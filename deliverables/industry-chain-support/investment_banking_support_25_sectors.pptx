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稿按用户提供的附件一截图还原浅蓝科技、深蓝标题、金色数字、城市产业背景的视觉风格；未取得可读取的完整PDF或源PPT，未逐页套用原母版。战略依据限于可读截图。全部支撑措施与推进时限为建议，需按本行授权和适用制度执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件一截图明确指出：产业研究只有转化为客户名单、产品方案和拜访节奏，才能成为经营能力；同时提出能源保供仍是基本盘，增量来自绿色化、智能化和深加工。本页将这一主线转化为投行执行框架。25条赛道不等于25笔融资，更不代表行业自动准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数据来源：附件三表1及正文。截至9月末表格债承18.5亿元，任务46亿元；银团0，任务3.06；理财月日均1.42，任务3.50；撮合表格38.39但正文25.63，不能自行认定一个口径。本页全年任务达成率为18.5/46=40.2%、1.42/3.50=40.6%，不同于原表序时完成率53.62%、54.20%。年底34、3、40、2均为附件三当时预测，未视作已完成。对应缺口46-34=12、3.06-3=.06、3.5-2=1.5。中收730万元、预计930万元，原材料无任务值，故不推算完成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本页逐字采用用户提供的25条产业链及大类关系，包括文旅康养在原图中列入数字经济。该归类不代表本稿对其产业属性作独立认定；产品安排基于实际运营需求。5+4+5+4+2+3+1+1=25。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债券投资不作为承销的强制绑定条件；投资与承销分别遵循审批和风险收益要求。银团业务按真实融资需求开展，不为完成指标人为拆分贷款。股权及券商业务通过有资质机构合作开展，分行不越权承诺投资或包销。理财不得承诺保本保收益，不得影响客户日常经营资金需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附件三记载：总行公司部核定单笔投资亏损不超过15万元，下半年亏损总额不超过50万元。材料中的“配套投资单笔约1亿元”为原文估算，取决于定价、期限、估值及风险收益计算，不作为本稿统一额度。建议提交白名单和分级授权申请，未获批前仍执行有效制度。所有激励和时限均为建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稿未对外部政策作时点有效性的法律判断，不列示未经核验的补贴金额、财政兜底或优惠利率。绿色、科创、转型、并购、ABS、CRMW等工具均须核验现行规则、本行资质、主体及用途适配；必要时咨询总行和有资质专业机构。基础设施公募REITs并非对所有行业与项目普遍适用，故不将其列作普适首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01 煤炭（能源保供） / 现代能源</a:t>
            </a:r>
          </a:p>
          <a:p>
            <a:r>
              <a:t>需求：保供周转、存量债到期、智能化改造；区分经营周转与项目建设。</a:t>
            </a:r>
          </a:p>
          <a:p>
            <a:r>
              <a:t>产品：成熟发行人：SCP/MTN；改造项目：项目银团；设备更新：租赁撮合。</a:t>
            </a:r>
          </a:p>
          <a:p>
            <a:r>
              <a:t>切入：从潞安矿业、晋控煤业储备切入，核对发行窗口、募集用途及到期债务。</a:t>
            </a:r>
          </a:p>
          <a:p>
            <a:r>
              <a:t>风险：核验产能及矿权、安全环保、保供合同；不把煤炭项目直接认定为绿色。</a:t>
            </a:r>
          </a:p>
          <a:p>
            <a:r>
              <a:t>交付：形成到期债务日历＋发行/银团备选方案。</a:t>
            </a:r>
          </a:p>
          <a:p/>
          <a:p>
            <a:r>
              <a:t>02 电力与新型电力系统 / 现代能源</a:t>
            </a:r>
          </a:p>
          <a:p>
            <a:r>
              <a:t>需求：电源、电网及调节能力建设周期长，投产后回款与电价机制相关。</a:t>
            </a:r>
          </a:p>
          <a:p>
            <a:r>
              <a:t>产品：项目银团＋设备租赁；成熟主体债券融资；合格绿色项目探索绿色债。</a:t>
            </a:r>
          </a:p>
          <a:p>
            <a:r>
              <a:t>切入：锁定已核准/备案、具备并网和购售电安排的项目，倒排资金到位时间。</a:t>
            </a:r>
          </a:p>
          <a:p>
            <a:r>
              <a:t>风险：落实资本金、消纳/并网条件，压力测试电价、利用小时及建设延期。</a:t>
            </a:r>
          </a:p>
          <a:p>
            <a:r>
              <a:t>交付：形成项目现金流模型＋银团邀约清单。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03 非常规天然气（煤层气） / 现代能源</a:t>
            </a:r>
          </a:p>
          <a:p>
            <a:r>
              <a:t>需求：勘探开发投入前置，井组递减、集输配套与售气回款节奏不同。</a:t>
            </a:r>
          </a:p>
          <a:p>
            <a:r>
              <a:t>产品：已形成产销现金流项目：项目银团；成熟主体MTN；设备租赁撮合。</a:t>
            </a:r>
          </a:p>
          <a:p>
            <a:r>
              <a:t>切入：优先在产扩建与集输项目，取得储量、产量、售气合同和回款记录。</a:t>
            </a:r>
          </a:p>
          <a:p>
            <a:r>
              <a:t>风险：区分勘探风险与开发风险；核验资源权属、气价及产量递减假设。</a:t>
            </a:r>
          </a:p>
          <a:p>
            <a:r>
              <a:t>交付：形成井组/项目分层清单与偿债测算。</a:t>
            </a:r>
          </a:p>
          <a:p/>
          <a:p>
            <a:r>
              <a:t>04 新型储能 / 现代能源</a:t>
            </a:r>
          </a:p>
          <a:p>
            <a:r>
              <a:t>需求：设备投入大，收益依赖应用场景、调用频次和结算机制。</a:t>
            </a:r>
          </a:p>
          <a:p>
            <a:r>
              <a:t>产品：项目银团＋租赁撮合；符合标准的项目探索绿色融资。</a:t>
            </a:r>
          </a:p>
          <a:p>
            <a:r>
              <a:t>切入：先核实电网侧、用户侧等场景，取得并网、容量/服务合同及结算依据。</a:t>
            </a:r>
          </a:p>
          <a:p>
            <a:r>
              <a:t>风险：不以未确认补偿、峰谷价差预测替代稳定现金流；关注循环寿命和消防。</a:t>
            </a:r>
          </a:p>
          <a:p>
            <a:r>
              <a:t>交付：形成分场景收益模型与敏感性测试。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05 氢能 / 现代能源</a:t>
            </a:r>
          </a:p>
          <a:p>
            <a:r>
              <a:t>需求：制储运加用全链投入，示范订单向稳定商业化转换仍需验证。</a:t>
            </a:r>
          </a:p>
          <a:p>
            <a:r>
              <a:t>产品：起步期：基金/产业资本撮合；有确定订单的设备：租赁；成熟项目评估银团。</a:t>
            </a:r>
          </a:p>
          <a:p>
            <a:r>
              <a:t>切入：优先有真实购氢/用氢合同的项目，联合产业方核验需求与配套设施。</a:t>
            </a:r>
          </a:p>
          <a:p>
            <a:r>
              <a:t>风险：核验制氢来源、能耗、安全许可、运输及终端需求；不依赖补贴兜底。</a:t>
            </a:r>
          </a:p>
          <a:p>
            <a:r>
              <a:t>交付：形成订单核验表＋分阶段融资路线图。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06 焦化 / 煤化工与碳材料</a:t>
            </a:r>
          </a:p>
          <a:p>
            <a:r>
              <a:t>需求：节能环保改造、产能整合与原料采购共同占用资金。</a:t>
            </a:r>
          </a:p>
          <a:p>
            <a:r>
              <a:t>产品：设备更新租赁＋技改银团；成熟主体常规债；转型金融工具逐项评估。</a:t>
            </a:r>
          </a:p>
          <a:p>
            <a:r>
              <a:t>切入：从合规在产企业改造切入，收集能耗基线、改造预算及客户订单。</a:t>
            </a:r>
          </a:p>
          <a:p>
            <a:r>
              <a:t>风险：核验产能置换、环保及能耗要求；不将全部焦化融资贴上绿色标签。</a:t>
            </a:r>
          </a:p>
          <a:p>
            <a:r>
              <a:t>交付：形成技改清单＋节能量/成本改善测算。</a:t>
            </a:r>
          </a:p>
          <a:p/>
          <a:p>
            <a:r>
              <a:t>07 现代煤化工 / 煤化工与碳材料</a:t>
            </a:r>
          </a:p>
          <a:p>
            <a:r>
              <a:t>需求：大型装置建设周期长，试生产爬坡与煤价、化工品价格联动。</a:t>
            </a:r>
          </a:p>
          <a:p>
            <a:r>
              <a:t>产品：建设期项目银团；成熟主体MTN；设备租赁；整合项目评估并购融资。</a:t>
            </a:r>
          </a:p>
          <a:p>
            <a:r>
              <a:t>切入：优先手续齐全、资本金到位、有产品销售安排的在建或技改项目。</a:t>
            </a:r>
          </a:p>
          <a:p>
            <a:r>
              <a:t>风险：重点审查用水、能耗、环保及煤源；压力测试产品价差与达产率。</a:t>
            </a:r>
          </a:p>
          <a:p>
            <a:r>
              <a:t>交付：形成建设提款计划＋运营偿债双模型。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08 碳基新材料 / 煤化工与碳材料</a:t>
            </a:r>
          </a:p>
          <a:p>
            <a:r>
              <a:t>需求：由煤基原料向高附加值材料延伸，研发、量产及客户验证节奏不同。</a:t>
            </a:r>
          </a:p>
          <a:p>
            <a:r>
              <a:t>产品：研发/中试：股权撮合；量产扩产：银团/租赁；合格主体探索科创债。</a:t>
            </a:r>
          </a:p>
          <a:p>
            <a:r>
              <a:t>切入：取得下游验证、采购订单及良率数据，再确定债权和股权融资比例。</a:t>
            </a:r>
          </a:p>
          <a:p>
            <a:r>
              <a:t>风险：不以集团信用替代项目论证；关注技术路线、价格与关联交易。</a:t>
            </a:r>
          </a:p>
          <a:p>
            <a:r>
              <a:t>交付：形成中试—量产资金里程碑表。</a:t>
            </a:r>
          </a:p>
          <a:p/>
          <a:p>
            <a:r>
              <a:t>09 废弃资源综合利用 / 煤化工与碳材料</a:t>
            </a:r>
          </a:p>
          <a:p>
            <a:r>
              <a:t>需求：固废、再生资源项目需同时落实原料来源、处理收入及再生品销路。</a:t>
            </a:r>
          </a:p>
          <a:p>
            <a:r>
              <a:t>产品：合格绿色项目：绿色债/项目银团；设备租赁；存量主体常规融资。</a:t>
            </a:r>
          </a:p>
          <a:p>
            <a:r>
              <a:t>切入：从大地环境等既有线索核验具体项目，确认是否属于本赛道后建档。</a:t>
            </a:r>
          </a:p>
          <a:p>
            <a:r>
              <a:t>风险：核验经营许可、原料保供、环保与收费机制；关注应收账款拖欠。</a:t>
            </a:r>
          </a:p>
          <a:p>
            <a:r>
              <a:t>交付：形成原料—处理—销售三端合同清单。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10 特钢材料 / 先进材料</a:t>
            </a:r>
          </a:p>
          <a:p>
            <a:r>
              <a:t>需求：高端产品替代、设备更新和订单交付形成资金需求。</a:t>
            </a:r>
          </a:p>
          <a:p>
            <a:r>
              <a:t>产品：成熟主体债券；设备租赁/银团；行业整合评估并购融资。</a:t>
            </a:r>
          </a:p>
          <a:p>
            <a:r>
              <a:t>切入：对现有钢铁客户核实特钢业务占比和产品认证，不以“钢铁”直接归类。</a:t>
            </a:r>
          </a:p>
          <a:p>
            <a:r>
              <a:t>风险：关注产能、能耗、订单集中度及原料价差；建设与流资用途分别核验。</a:t>
            </a:r>
          </a:p>
          <a:p>
            <a:r>
              <a:t>交付：形成产品/订单分层表＋融资用途表。</a:t>
            </a:r>
          </a:p>
          <a:p/>
          <a:p>
            <a:r>
              <a:t>11 铝镁精深加工 / 先进材料</a:t>
            </a:r>
          </a:p>
          <a:p>
            <a:r>
              <a:t>需求：轻量化材料扩产、加工设备更新及原材料采购占款。</a:t>
            </a:r>
          </a:p>
          <a:p>
            <a:r>
              <a:t>产品：设备租赁＋项目银团；成熟主体债券；产业资本撮合。</a:t>
            </a:r>
          </a:p>
          <a:p>
            <a:r>
              <a:t>切入：优先下游汽车、装备客户认证已完成且有订单的精深加工项目。</a:t>
            </a:r>
          </a:p>
          <a:p>
            <a:r>
              <a:t>风险：区分上游冶炼与加工环节；核验能耗、原料成本和核心客户回款。</a:t>
            </a:r>
          </a:p>
          <a:p>
            <a:r>
              <a:t>交付：形成订单覆盖率与金属价格压力测试。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12 铜基新材料 / 先进材料</a:t>
            </a:r>
          </a:p>
          <a:p>
            <a:r>
              <a:t>需求：高精铜材、铜箔等产线投资大，认证及良率影响现金流。</a:t>
            </a:r>
          </a:p>
          <a:p>
            <a:r>
              <a:t>产品：扩产银团＋设备租赁；符合条件主体科创债；中试阶段股权撮合。</a:t>
            </a:r>
          </a:p>
          <a:p>
            <a:r>
              <a:t>切入：核验产品规格、客户认证、良率和订单，优先成熟产线技改扩建。</a:t>
            </a:r>
          </a:p>
          <a:p>
            <a:r>
              <a:t>风险：关注铜价波动、加工费、库存占用与客户集中度；谨防重复扩产。</a:t>
            </a:r>
          </a:p>
          <a:p>
            <a:r>
              <a:t>交付：形成单位成本模型＋资金峰值测算。</a:t>
            </a:r>
          </a:p>
          <a:p/>
          <a:p>
            <a:r>
              <a:t>13 合成生物 / 先进材料</a:t>
            </a:r>
          </a:p>
          <a:p>
            <a:r>
              <a:t>需求：研发、中试、规模发酵存在明显阶段差异，商业化不确定性高。</a:t>
            </a:r>
          </a:p>
          <a:p>
            <a:r>
              <a:t>产品：前期产业基金/股权撮合；稳定量产后评估租赁、银团及科创债。</a:t>
            </a:r>
          </a:p>
          <a:p>
            <a:r>
              <a:t>切入：以菌种/工艺权属、试验数据和客户验证为起点，分阶段设融资门槛。</a:t>
            </a:r>
          </a:p>
          <a:p>
            <a:r>
              <a:t>风险：核验知识产权、生物安全及产品许可；不以估值替代偿债现金流。</a:t>
            </a:r>
          </a:p>
          <a:p>
            <a:r>
              <a:t>交付：形成技术里程碑＋资本接续计划。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14 第三代半导体 / 先进材料</a:t>
            </a:r>
          </a:p>
          <a:p>
            <a:r>
              <a:t>需求：设备投入高，工艺良率、验证周期和技术迭代影响扩产回报。</a:t>
            </a:r>
          </a:p>
          <a:p>
            <a:r>
              <a:t>产品：中试股权撮合；量产设备租赁；成熟企业科创债或扩产银团。</a:t>
            </a:r>
          </a:p>
          <a:p>
            <a:r>
              <a:t>切入：优先已完成下游认证的碳化硅/氮化镓等项目，核实订单与产线能力。</a:t>
            </a:r>
          </a:p>
          <a:p>
            <a:r>
              <a:t>风险：核验设备可得性、知识产权、良率及资本金；开展技术专家评审。</a:t>
            </a:r>
          </a:p>
          <a:p>
            <a:r>
              <a:t>交付：形成认证—订单—设备三联核验表。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15 高端装备制造 / 装备制造</a:t>
            </a:r>
          </a:p>
          <a:p>
            <a:r>
              <a:t>需求：大额订单交付周期长，研发、生产和验收回款存在时间差。</a:t>
            </a:r>
          </a:p>
          <a:p>
            <a:r>
              <a:t>产品：成熟主体债券；设备租赁/银团；并购融资及产业资本撮合。</a:t>
            </a:r>
          </a:p>
          <a:p>
            <a:r>
              <a:t>切入：以太重等存量授信客群为入口，排查债券合作空白和核心订单链。</a:t>
            </a:r>
          </a:p>
          <a:p>
            <a:r>
              <a:t>风险：核验合同履约、预付款使用、验收节点及应收回款；避免重复融资。</a:t>
            </a:r>
          </a:p>
          <a:p>
            <a:r>
              <a:t>交付：形成订单现金流表＋承销合作清单。</a:t>
            </a:r>
          </a:p>
          <a:p/>
          <a:p>
            <a:r>
              <a:t>16 风电装备 / 装备制造</a:t>
            </a:r>
          </a:p>
          <a:p>
            <a:r>
              <a:t>需求：整机及零部件产线扩建，交付验收和质保金占用资金。</a:t>
            </a:r>
          </a:p>
          <a:p>
            <a:r>
              <a:t>产品：产线租赁/银团；合格主体绿色或科创债；整合项目并购撮合。</a:t>
            </a:r>
          </a:p>
          <a:p>
            <a:r>
              <a:t>切入：围绕主机厂认证供应商，筛选有订单、已认证的零部件技改项目。</a:t>
            </a:r>
          </a:p>
          <a:p>
            <a:r>
              <a:t>风险：关注主机厂集中度、价格下行、质保责任及海外订单履约风险。</a:t>
            </a:r>
          </a:p>
          <a:p>
            <a:r>
              <a:t>交付：形成订单/质保金台账＋设备清单。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17 新能源汽车 / 装备制造</a:t>
            </a:r>
          </a:p>
          <a:p>
            <a:r>
              <a:t>需求：整车及零部件技术迭代快，模具、产线与应收账款占款。</a:t>
            </a:r>
          </a:p>
          <a:p>
            <a:r>
              <a:t>产品：设备更新租赁；成熟扩产银团；早期股权撮合；合格主体科创债。</a:t>
            </a:r>
          </a:p>
          <a:p>
            <a:r>
              <a:t>切入：优先定点车型、客户认证及量产订单明确的项目，核对资金缺口。</a:t>
            </a:r>
          </a:p>
          <a:p>
            <a:r>
              <a:t>风险：关注车型生命周期、客户集中、价格竞争与回款周期；不泛化整车信用。</a:t>
            </a:r>
          </a:p>
          <a:p>
            <a:r>
              <a:t>交付：形成定点—量产—回款里程碑表。</a:t>
            </a:r>
          </a:p>
          <a:p/>
          <a:p>
            <a:r>
              <a:t>18 光伏 / 装备制造</a:t>
            </a:r>
          </a:p>
          <a:p>
            <a:r>
              <a:t>需求：设备技改与技术路线升级需求并存，制造与电站现金流差异大。</a:t>
            </a:r>
          </a:p>
          <a:p>
            <a:r>
              <a:t>产品：制造端设备租赁/成熟主体债券；合规电站项目银团及绿色融资。</a:t>
            </a:r>
          </a:p>
          <a:p>
            <a:r>
              <a:t>切入：先区分制造和电站用途，制造看订单/成本，电站看并网/消纳/电价。</a:t>
            </a:r>
          </a:p>
          <a:p>
            <a:r>
              <a:t>风险：关注产能过剩、存货减值、技术淘汰；不能将所有制造融资认定为绿色。</a:t>
            </a:r>
          </a:p>
          <a:p>
            <a:r>
              <a:t>交付：形成制造/电站双清单与差异化模型。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19 特优农业与食品 / 特优农业与医药</a:t>
            </a:r>
          </a:p>
          <a:p>
            <a:r>
              <a:t>需求：季节采购、加工升级、冷链建设与渠道回款共同形成需求。</a:t>
            </a:r>
          </a:p>
          <a:p>
            <a:r>
              <a:t>产品：设备租赁/项目银团；成熟龙头债券；产业资本及渠道资源撮合。</a:t>
            </a:r>
          </a:p>
          <a:p>
            <a:r>
              <a:t>切入：优先订单可验证的加工、仓储冷链项目，核实原料基地与销售渠道。</a:t>
            </a:r>
          </a:p>
          <a:p>
            <a:r>
              <a:t>风险：关注食品安全、库存保质期、季节现金流及关联采购；仓单真实性核验。</a:t>
            </a:r>
          </a:p>
          <a:p>
            <a:r>
              <a:t>交付：形成收储加工销售现金流日历。</a:t>
            </a:r>
          </a:p>
          <a:p/>
          <a:p>
            <a:r>
              <a:t>20 现代医药 / 特优农业与医药</a:t>
            </a:r>
          </a:p>
          <a:p>
            <a:r>
              <a:t>需求：研发注册、产能建设、商业推广与回款存在较长周期。</a:t>
            </a:r>
          </a:p>
          <a:p>
            <a:r>
              <a:t>产品：研发期股权撮合；已上市产品产线租赁/银团；合格主体科创债。</a:t>
            </a:r>
          </a:p>
          <a:p>
            <a:r>
              <a:t>切入：依据产品注册、临床/上市阶段分层，优先许可齐全且有销售的扩产项目。</a:t>
            </a:r>
          </a:p>
          <a:p>
            <a:r>
              <a:t>风险：核验药品许可、知识产权、集采影响、研发失败及商业合规风险。</a:t>
            </a:r>
          </a:p>
          <a:p>
            <a:r>
              <a:t>交付：形成产品阶段表＋销售/回款证据包。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21 文旅康养 / 数字经济</a:t>
            </a:r>
          </a:p>
          <a:p>
            <a:r>
              <a:t>需求：景区及康养设施更新、运营周转与淡旺季现金流差异显著。</a:t>
            </a:r>
          </a:p>
          <a:p>
            <a:r>
              <a:t>产品：成熟主体SCP/MTN；运营改造银团/租赁；资本及合作方撮合。</a:t>
            </a:r>
          </a:p>
          <a:p>
            <a:r>
              <a:t>切入：从山西文旅储备切入，核实注册反馈、发行计划及真实文旅/康养用途。</a:t>
            </a:r>
          </a:p>
          <a:p>
            <a:r>
              <a:t>风险：区分平台与项目现金流；核验资产权属、收费、入住率及季节性。</a:t>
            </a:r>
          </a:p>
          <a:p>
            <a:r>
              <a:t>交付：形成淡旺季偿债模型与产品排期表。</a:t>
            </a:r>
          </a:p>
          <a:p/>
          <a:p>
            <a:r>
              <a:t>22 算力与数据要素 / 数字经济</a:t>
            </a:r>
          </a:p>
          <a:p>
            <a:r>
              <a:t>需求：机房、算力设备更新快，机柜与算力租用合同决定收益。</a:t>
            </a:r>
          </a:p>
          <a:p>
            <a:r>
              <a:t>产品：设备租赁；有长期订单的项目银团；合格主体科创债；早期股权撮合。</a:t>
            </a:r>
          </a:p>
          <a:p>
            <a:r>
              <a:t>切入：优先真实客户、用电和算力服务合同明确的项目，核实客户及利用率。</a:t>
            </a:r>
          </a:p>
          <a:p>
            <a:r>
              <a:t>风险：核验数据合规、能耗、设备折旧、技术替代及租赁合同可执行性。</a:t>
            </a:r>
          </a:p>
          <a:p>
            <a:r>
              <a:t>交付：形成合同覆盖/利用率与折旧压力测试。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23 信息技术融合应用 / 数字经济</a:t>
            </a:r>
          </a:p>
          <a:p>
            <a:r>
              <a:t>需求：软件研发、系统集成与项目验收回款不同步，轻资产抵押不足。</a:t>
            </a:r>
          </a:p>
          <a:p>
            <a:r>
              <a:t>产品：产业资本撮合；成熟主体科创债；已有稳定回款项目评估融资支持。</a:t>
            </a:r>
          </a:p>
          <a:p>
            <a:r>
              <a:t>切入：优先可验收、可收费、可持续续费的工业数字化及行业应用项目。</a:t>
            </a:r>
          </a:p>
          <a:p>
            <a:r>
              <a:t>风险：核验知识产权、真实采购与交付；关注回款、客户集中及数据安全。</a:t>
            </a:r>
          </a:p>
          <a:p>
            <a:r>
              <a:t>交付：形成项目验收/回款台账与融资分层表。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赛道名称和大类依据用户提供的25条产业链图表。需求、产品及操作路径为本稿分析建议，尚未对具体客户完成尽调、授信、承销或产品审批。</a:t>
            </a:r>
          </a:p>
          <a:p/>
          <a:p>
            <a:r>
              <a:t>24 装配式建筑 / 绿色建筑</a:t>
            </a:r>
          </a:p>
          <a:p>
            <a:r>
              <a:t>需求：构件工厂设备更新、工程订单履约与结算账期带来资金压力。</a:t>
            </a:r>
          </a:p>
          <a:p>
            <a:r>
              <a:t>产品：设备租赁/项目银团；成熟主体债券；合规应收资产证券化路径评估。</a:t>
            </a:r>
          </a:p>
          <a:p>
            <a:r>
              <a:t>切入：从已获订单的构件厂及承包商切入，穿透项目、发包方和最终付款人。</a:t>
            </a:r>
          </a:p>
          <a:p>
            <a:r>
              <a:t>风险：核验订单、验收及应收确权；绿色认定逐项核查，排查隐性债务风险。</a:t>
            </a:r>
          </a:p>
          <a:p>
            <a:r>
              <a:t>交付：形成订单履约与应收确权清单。</a:t>
            </a:r>
          </a:p>
          <a:p/>
          <a:p>
            <a:r>
              <a:t>25 低空经济 / 未来产业</a:t>
            </a:r>
          </a:p>
          <a:p>
            <a:r>
              <a:t>需求：研发试飞、设备购置及场景运营分阶段投入，商业模式尚在验证。</a:t>
            </a:r>
          </a:p>
          <a:p>
            <a:r>
              <a:t>产品：前期股权/产业资本撮合；有稳定付费订单的设备租赁；成熟项目再评估债权。</a:t>
            </a:r>
          </a:p>
          <a:p>
            <a:r>
              <a:t>切入：优先已有合规许可及真实付费合同的物流、巡检等场景，小额分阶段试点。</a:t>
            </a:r>
          </a:p>
          <a:p>
            <a:r>
              <a:t>风险：核验空域/运行许可、适航适用要求、保险及付费主体；不以规划替代订单。</a:t>
            </a:r>
          </a:p>
          <a:p>
            <a:r>
              <a:t>交付：形成场景许可核验包＋阶段退出条件。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为材料线索转化清单，不是当前已核实项目进度。附件三包含10—11月预计节点，不能以日历日期推定业务已完成。山西建龙或高义钢铁等钢铁企业不能仅凭名称纳入特钢赛道；大地环境也需穿透项目及资金用途确认。原表债承合计37与华阳5—6的区间存在口径核实空间；未将所有储备金额等同本行实际承销份额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红黄绿时限均为建议管理阈值，非现行制度或审批承诺。关键节点逾期10个工作日或重大风险为红色；5至9个工作日或不确定条件为黄色；按计划为绿色。可据分行业务复杂度和节点性质调整。真实项目台账还应按各类业务要求维护交易证据及存续管理记录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稿新增的≥10份方案与争取≥3个示范项目为实施建议，不是附件三原指标或已批准考核。25条赛道初筛不要求每条赛道都必须融资落地。附件三原有中长期目标还包括1—2年内投行业务排名上升5名、每机构培育1—2户千万级及3—5户百万级理财客户；本稿建议在客户适当性、现有人力与资源约束下重新审定，不作为不顾条件的营销任务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银行业、债券、资产管理、国资监管等具体要求以本行制度及办理时有效规则为准。本稿不构成授信承诺、投资承诺或法律/会计意见。附件三“省内国企不能购买理财”为材料表述，本稿不将其推广为普遍法律结论；逐户核对适用的国资资金管理制度、客户资质与产品限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视觉说明：本稿根据附件一可读截图重建浅蓝科技底色、深蓝标题、青蓝卡片、金色重点数字、城市剪影与立体平台元素；为重新制作的可编辑版式，不含手机状态栏和红色手写批注，亦非原始PPT母版的逐页套用。所有正文与流程图以原生PPT文本/形状为主，底图渐变为生成图片。客户信息、储备金额与经营数据属于内部材料，按本行信息管理要求使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3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30352" y="502920"/>
            <a:ext cx="64008" cy="256032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02920"/>
            <a:ext cx="6858000" cy="2926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· 投资银行部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25296"/>
            <a:ext cx="1088136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40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蓄势三晋  链启新局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4944" y="2176272"/>
            <a:ext cx="1069848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30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投行赋能25条产业链赛道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07792"/>
            <a:ext cx="1033272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0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产品支撑 · 政策赋能 · 协同推进 · 过程督导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3758184"/>
            <a:ext cx="1792224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86968" y="3867912"/>
            <a:ext cx="152704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25条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" y="432511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赛道逐一匹配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715768" y="3758184"/>
            <a:ext cx="1792224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852927" y="3867912"/>
            <a:ext cx="152704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4类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52927" y="432511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核心产品组合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681728" y="3758184"/>
            <a:ext cx="1792224" cy="93268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818888" y="3867912"/>
            <a:ext cx="1527048" cy="3566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5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90天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818888" y="4325112"/>
            <a:ext cx="1527048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首轮推进闭环</a:t>
            </a:r>
          </a:p>
        </p:txBody>
      </p:sp>
      <p:sp>
        <p:nvSpPr>
          <p:cNvPr id="17" name="Oval 16"/>
          <p:cNvSpPr/>
          <p:nvPr/>
        </p:nvSpPr>
        <p:spPr>
          <a:xfrm>
            <a:off x="7315200" y="5230368"/>
            <a:ext cx="4114800" cy="548640"/>
          </a:xfrm>
          <a:prstGeom prst="ellipse">
            <a:avLst/>
          </a:prstGeom>
          <a:solidFill>
            <a:srgbClr val="B9E5F5"/>
          </a:solidFill>
          <a:ln w="10160">
            <a:solidFill>
              <a:srgbClr val="B4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543800" y="5010912"/>
            <a:ext cx="3657600" cy="548640"/>
          </a:xfrm>
          <a:prstGeom prst="ellipse">
            <a:avLst/>
          </a:prstGeom>
          <a:solidFill>
            <a:srgbClr val="D9F3FC"/>
          </a:solidFill>
          <a:ln w="10160">
            <a:solidFill>
              <a:srgbClr val="B4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863840" y="4782312"/>
            <a:ext cx="3017520" cy="566928"/>
          </a:xfrm>
          <a:prstGeom prst="ellipse">
            <a:avLst/>
          </a:prstGeom>
          <a:solidFill>
            <a:srgbClr val="F7FDFF"/>
          </a:solidFill>
          <a:ln w="10160">
            <a:solidFill>
              <a:srgbClr val="B4DF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909560" y="3666744"/>
            <a:ext cx="512064" cy="1298448"/>
          </a:xfrm>
          <a:prstGeom prst="roundRect">
            <a:avLst>
              <a:gd name="adj" fmla="val 5000"/>
            </a:avLst>
          </a:prstGeom>
          <a:solidFill>
            <a:srgbClr val="19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18120" y="514807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债券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613648" y="3264407"/>
            <a:ext cx="512064" cy="1700784"/>
          </a:xfrm>
          <a:prstGeom prst="roundRect">
            <a:avLst>
              <a:gd name="adj" fmla="val 5000"/>
            </a:avLst>
          </a:prstGeom>
          <a:solidFill>
            <a:srgbClr val="19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522208" y="514807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银团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17736" y="2880360"/>
            <a:ext cx="512064" cy="2084831"/>
          </a:xfrm>
          <a:prstGeom prst="roundRect">
            <a:avLst>
              <a:gd name="adj" fmla="val 5000"/>
            </a:avLst>
          </a:prstGeom>
          <a:solidFill>
            <a:srgbClr val="197DC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26296" y="514807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撮合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021824" y="2505456"/>
            <a:ext cx="512064" cy="2459736"/>
          </a:xfrm>
          <a:prstGeom prst="roundRect">
            <a:avLst>
              <a:gd name="adj" fmla="val 5000"/>
            </a:avLst>
          </a:prstGeom>
          <a:solidFill>
            <a:srgbClr val="D0A4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930384" y="5148072"/>
            <a:ext cx="694944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理财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9326880" y="4023360"/>
            <a:ext cx="1828800" cy="0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1114532" y="3982212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0" name="Connector 29"/>
          <p:cNvCxnSpPr/>
          <p:nvPr/>
        </p:nvCxnSpPr>
        <p:spPr>
          <a:xfrm>
            <a:off x="9326880" y="4023360"/>
            <a:ext cx="1293156" cy="840551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578888" y="4822763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2" name="Connector 31"/>
          <p:cNvCxnSpPr/>
          <p:nvPr/>
        </p:nvCxnSpPr>
        <p:spPr>
          <a:xfrm>
            <a:off x="9326880" y="4023360"/>
            <a:ext cx="0" cy="1188720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Oval 32"/>
          <p:cNvSpPr/>
          <p:nvPr/>
        </p:nvSpPr>
        <p:spPr>
          <a:xfrm>
            <a:off x="9285732" y="5170932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H="1">
            <a:off x="8033723" y="4023360"/>
            <a:ext cx="1293157" cy="840551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Oval 34"/>
          <p:cNvSpPr/>
          <p:nvPr/>
        </p:nvSpPr>
        <p:spPr>
          <a:xfrm>
            <a:off x="7992575" y="4822763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6" name="Connector 35"/>
          <p:cNvCxnSpPr/>
          <p:nvPr/>
        </p:nvCxnSpPr>
        <p:spPr>
          <a:xfrm flipH="1">
            <a:off x="7498079" y="4023360"/>
            <a:ext cx="1828801" cy="0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Oval 36"/>
          <p:cNvSpPr/>
          <p:nvPr/>
        </p:nvSpPr>
        <p:spPr>
          <a:xfrm>
            <a:off x="7456931" y="3982212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8" name="Connector 37"/>
          <p:cNvCxnSpPr/>
          <p:nvPr/>
        </p:nvCxnSpPr>
        <p:spPr>
          <a:xfrm flipH="1" flipV="1">
            <a:off x="8033723" y="3182808"/>
            <a:ext cx="1293157" cy="840552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Oval 38"/>
          <p:cNvSpPr/>
          <p:nvPr/>
        </p:nvSpPr>
        <p:spPr>
          <a:xfrm>
            <a:off x="7992575" y="3141660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0" name="Connector 39"/>
          <p:cNvCxnSpPr/>
          <p:nvPr/>
        </p:nvCxnSpPr>
        <p:spPr>
          <a:xfrm flipV="1">
            <a:off x="9326880" y="2834640"/>
            <a:ext cx="0" cy="1188720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9285732" y="2793492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2" name="Connector 41"/>
          <p:cNvCxnSpPr/>
          <p:nvPr/>
        </p:nvCxnSpPr>
        <p:spPr>
          <a:xfrm flipV="1">
            <a:off x="9326880" y="3182808"/>
            <a:ext cx="1293156" cy="840552"/>
          </a:xfrm>
          <a:prstGeom prst="line">
            <a:avLst/>
          </a:prstGeom>
          <a:ln w="10160">
            <a:solidFill>
              <a:srgbClr val="B4DE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Oval 42"/>
          <p:cNvSpPr/>
          <p:nvPr/>
        </p:nvSpPr>
        <p:spPr>
          <a:xfrm>
            <a:off x="10578888" y="3141660"/>
            <a:ext cx="82296" cy="82296"/>
          </a:xfrm>
          <a:prstGeom prst="ellipse">
            <a:avLst/>
          </a:prstGeom>
          <a:solidFill>
            <a:srgbClr val="50C6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0" y="5773032"/>
            <a:ext cx="161603" cy="20714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45" name="Connector 44"/>
          <p:cNvCxnSpPr/>
          <p:nvPr/>
        </p:nvCxnSpPr>
        <p:spPr>
          <a:xfrm>
            <a:off x="22860" y="5846184"/>
            <a:ext cx="11588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>
            <a:off x="22860" y="5946768"/>
            <a:ext cx="11588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22860" y="6047352"/>
            <a:ext cx="11588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179289" y="5609740"/>
            <a:ext cx="121618" cy="37043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58579" y="5236123"/>
            <a:ext cx="172251" cy="74405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537868" y="5722011"/>
            <a:ext cx="189337" cy="25816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1" name="Connector 50"/>
          <p:cNvCxnSpPr/>
          <p:nvPr/>
        </p:nvCxnSpPr>
        <p:spPr>
          <a:xfrm>
            <a:off x="560728" y="5795163"/>
            <a:ext cx="14361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Connector 51"/>
          <p:cNvCxnSpPr/>
          <p:nvPr/>
        </p:nvCxnSpPr>
        <p:spPr>
          <a:xfrm>
            <a:off x="560728" y="5895747"/>
            <a:ext cx="14361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560728" y="5996331"/>
            <a:ext cx="14361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4" name="Rectangle 53"/>
          <p:cNvSpPr/>
          <p:nvPr/>
        </p:nvSpPr>
        <p:spPr>
          <a:xfrm>
            <a:off x="717158" y="5769089"/>
            <a:ext cx="137736" cy="21108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96448" y="5377289"/>
            <a:ext cx="115430" cy="60288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1075737" y="5629821"/>
            <a:ext cx="94351" cy="35035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7" name="Connector 56"/>
          <p:cNvCxnSpPr/>
          <p:nvPr/>
        </p:nvCxnSpPr>
        <p:spPr>
          <a:xfrm>
            <a:off x="1098597" y="5702973"/>
            <a:ext cx="4863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8" name="Connector 57"/>
          <p:cNvCxnSpPr/>
          <p:nvPr/>
        </p:nvCxnSpPr>
        <p:spPr>
          <a:xfrm>
            <a:off x="1098597" y="5803557"/>
            <a:ext cx="4863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 58"/>
          <p:cNvCxnSpPr/>
          <p:nvPr/>
        </p:nvCxnSpPr>
        <p:spPr>
          <a:xfrm>
            <a:off x="1098597" y="5904141"/>
            <a:ext cx="4863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ectangle 59"/>
          <p:cNvSpPr/>
          <p:nvPr/>
        </p:nvSpPr>
        <p:spPr>
          <a:xfrm>
            <a:off x="1255027" y="5344675"/>
            <a:ext cx="162750" cy="635500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1434317" y="5308157"/>
            <a:ext cx="115628" cy="672018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1613606" y="5788284"/>
            <a:ext cx="180257" cy="19189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3" name="Connector 62"/>
          <p:cNvCxnSpPr/>
          <p:nvPr/>
        </p:nvCxnSpPr>
        <p:spPr>
          <a:xfrm>
            <a:off x="1636466" y="5861436"/>
            <a:ext cx="13453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636466" y="5962020"/>
            <a:ext cx="13453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nector 64"/>
          <p:cNvCxnSpPr/>
          <p:nvPr/>
        </p:nvCxnSpPr>
        <p:spPr>
          <a:xfrm>
            <a:off x="1636466" y="6062604"/>
            <a:ext cx="13453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1792896" y="5218459"/>
            <a:ext cx="179860" cy="76171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972185" y="5665542"/>
            <a:ext cx="128775" cy="31463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2151475" y="5516326"/>
            <a:ext cx="196473" cy="463849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9" name="Connector 68"/>
          <p:cNvCxnSpPr/>
          <p:nvPr/>
        </p:nvCxnSpPr>
        <p:spPr>
          <a:xfrm>
            <a:off x="2174335" y="5589478"/>
            <a:ext cx="1507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nector 69"/>
          <p:cNvCxnSpPr/>
          <p:nvPr/>
        </p:nvCxnSpPr>
        <p:spPr>
          <a:xfrm>
            <a:off x="2174335" y="5690062"/>
            <a:ext cx="1507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1" name="Connector 70"/>
          <p:cNvCxnSpPr/>
          <p:nvPr/>
        </p:nvCxnSpPr>
        <p:spPr>
          <a:xfrm>
            <a:off x="2174335" y="5790646"/>
            <a:ext cx="1507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Rectangle 71"/>
          <p:cNvSpPr/>
          <p:nvPr/>
        </p:nvSpPr>
        <p:spPr>
          <a:xfrm>
            <a:off x="2330765" y="5713956"/>
            <a:ext cx="101616" cy="266219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2510054" y="5296243"/>
            <a:ext cx="184433" cy="68393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2689344" y="5192431"/>
            <a:ext cx="180004" cy="78774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2712204" y="5265583"/>
            <a:ext cx="1342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>
            <a:off x="2712204" y="5366167"/>
            <a:ext cx="1342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>
            <a:off x="2712204" y="5466751"/>
            <a:ext cx="1342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2868634" y="4991913"/>
            <a:ext cx="150279" cy="98826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3047923" y="5338826"/>
            <a:ext cx="132975" cy="641349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227213" y="5284055"/>
            <a:ext cx="182448" cy="696120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1" name="Connector 80"/>
          <p:cNvCxnSpPr/>
          <p:nvPr/>
        </p:nvCxnSpPr>
        <p:spPr>
          <a:xfrm>
            <a:off x="3250073" y="5357207"/>
            <a:ext cx="136729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3250073" y="5457791"/>
            <a:ext cx="136729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>
            <a:off x="3250073" y="5558375"/>
            <a:ext cx="136729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3406503" y="5317972"/>
            <a:ext cx="185993" cy="66220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3585792" y="5755884"/>
            <a:ext cx="168751" cy="22429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Rectangle 85"/>
          <p:cNvSpPr/>
          <p:nvPr/>
        </p:nvSpPr>
        <p:spPr>
          <a:xfrm>
            <a:off x="3765082" y="5555219"/>
            <a:ext cx="116446" cy="42495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7" name="Connector 86"/>
          <p:cNvCxnSpPr/>
          <p:nvPr/>
        </p:nvCxnSpPr>
        <p:spPr>
          <a:xfrm>
            <a:off x="3787942" y="5628371"/>
            <a:ext cx="707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8" name="Connector 87"/>
          <p:cNvCxnSpPr/>
          <p:nvPr/>
        </p:nvCxnSpPr>
        <p:spPr>
          <a:xfrm>
            <a:off x="3787942" y="5728955"/>
            <a:ext cx="707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9" name="Connector 88"/>
          <p:cNvCxnSpPr/>
          <p:nvPr/>
        </p:nvCxnSpPr>
        <p:spPr>
          <a:xfrm>
            <a:off x="3787942" y="5829539"/>
            <a:ext cx="707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Rectangle 89"/>
          <p:cNvSpPr/>
          <p:nvPr/>
        </p:nvSpPr>
        <p:spPr>
          <a:xfrm>
            <a:off x="3944371" y="5601847"/>
            <a:ext cx="100195" cy="378328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Rectangle 90"/>
          <p:cNvSpPr/>
          <p:nvPr/>
        </p:nvSpPr>
        <p:spPr>
          <a:xfrm>
            <a:off x="4123661" y="5564623"/>
            <a:ext cx="102522" cy="41555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ectangle 91"/>
          <p:cNvSpPr/>
          <p:nvPr/>
        </p:nvSpPr>
        <p:spPr>
          <a:xfrm>
            <a:off x="4302951" y="5493062"/>
            <a:ext cx="161192" cy="48711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3" name="Connector 92"/>
          <p:cNvCxnSpPr/>
          <p:nvPr/>
        </p:nvCxnSpPr>
        <p:spPr>
          <a:xfrm>
            <a:off x="4325811" y="5566214"/>
            <a:ext cx="11547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Connector 93"/>
          <p:cNvCxnSpPr/>
          <p:nvPr/>
        </p:nvCxnSpPr>
        <p:spPr>
          <a:xfrm>
            <a:off x="4325811" y="5666798"/>
            <a:ext cx="11547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5" name="Connector 94"/>
          <p:cNvCxnSpPr/>
          <p:nvPr/>
        </p:nvCxnSpPr>
        <p:spPr>
          <a:xfrm>
            <a:off x="4325811" y="5767382"/>
            <a:ext cx="11547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6" name="Rectangle 95"/>
          <p:cNvSpPr/>
          <p:nvPr/>
        </p:nvSpPr>
        <p:spPr>
          <a:xfrm>
            <a:off x="4482240" y="5621030"/>
            <a:ext cx="132059" cy="35914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4661530" y="5021952"/>
            <a:ext cx="120734" cy="95822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Rectangle 97"/>
          <p:cNvSpPr/>
          <p:nvPr/>
        </p:nvSpPr>
        <p:spPr>
          <a:xfrm>
            <a:off x="4840820" y="5291790"/>
            <a:ext cx="162547" cy="68838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99" name="Connector 98"/>
          <p:cNvCxnSpPr/>
          <p:nvPr/>
        </p:nvCxnSpPr>
        <p:spPr>
          <a:xfrm>
            <a:off x="4863680" y="5364942"/>
            <a:ext cx="1168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Connector 99"/>
          <p:cNvCxnSpPr/>
          <p:nvPr/>
        </p:nvCxnSpPr>
        <p:spPr>
          <a:xfrm>
            <a:off x="4863680" y="5465526"/>
            <a:ext cx="1168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1" name="Connector 100"/>
          <p:cNvCxnSpPr/>
          <p:nvPr/>
        </p:nvCxnSpPr>
        <p:spPr>
          <a:xfrm>
            <a:off x="4863680" y="5566110"/>
            <a:ext cx="11682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2" name="Rectangle 101"/>
          <p:cNvSpPr/>
          <p:nvPr/>
        </p:nvSpPr>
        <p:spPr>
          <a:xfrm>
            <a:off x="5020109" y="5192929"/>
            <a:ext cx="110218" cy="78724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5199399" y="5481014"/>
            <a:ext cx="109369" cy="49916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Rectangle 103"/>
          <p:cNvSpPr/>
          <p:nvPr/>
        </p:nvSpPr>
        <p:spPr>
          <a:xfrm>
            <a:off x="5378689" y="5266358"/>
            <a:ext cx="200018" cy="713817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05" name="Connector 104"/>
          <p:cNvCxnSpPr/>
          <p:nvPr/>
        </p:nvCxnSpPr>
        <p:spPr>
          <a:xfrm>
            <a:off x="5401549" y="5339510"/>
            <a:ext cx="15429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6" name="Connector 105"/>
          <p:cNvCxnSpPr/>
          <p:nvPr/>
        </p:nvCxnSpPr>
        <p:spPr>
          <a:xfrm>
            <a:off x="5401549" y="5440094"/>
            <a:ext cx="15429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7" name="Connector 106"/>
          <p:cNvCxnSpPr/>
          <p:nvPr/>
        </p:nvCxnSpPr>
        <p:spPr>
          <a:xfrm>
            <a:off x="5401549" y="5540678"/>
            <a:ext cx="15429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Rectangle 107"/>
          <p:cNvSpPr/>
          <p:nvPr/>
        </p:nvSpPr>
        <p:spPr>
          <a:xfrm>
            <a:off x="5557978" y="5229602"/>
            <a:ext cx="152552" cy="75057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5737268" y="5154311"/>
            <a:ext cx="183924" cy="82586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Rectangle 109"/>
          <p:cNvSpPr/>
          <p:nvPr/>
        </p:nvSpPr>
        <p:spPr>
          <a:xfrm>
            <a:off x="5916557" y="5767191"/>
            <a:ext cx="116572" cy="21298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1" name="Connector 110"/>
          <p:cNvCxnSpPr/>
          <p:nvPr/>
        </p:nvCxnSpPr>
        <p:spPr>
          <a:xfrm>
            <a:off x="5939417" y="5840343"/>
            <a:ext cx="708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2" name="Connector 111"/>
          <p:cNvCxnSpPr/>
          <p:nvPr/>
        </p:nvCxnSpPr>
        <p:spPr>
          <a:xfrm>
            <a:off x="5939417" y="5940927"/>
            <a:ext cx="708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3" name="Connector 112"/>
          <p:cNvCxnSpPr/>
          <p:nvPr/>
        </p:nvCxnSpPr>
        <p:spPr>
          <a:xfrm>
            <a:off x="5939417" y="6041511"/>
            <a:ext cx="7085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4" name="Rectangle 113"/>
          <p:cNvSpPr/>
          <p:nvPr/>
        </p:nvSpPr>
        <p:spPr>
          <a:xfrm>
            <a:off x="6095847" y="5573053"/>
            <a:ext cx="126054" cy="40712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ectangle 114"/>
          <p:cNvSpPr/>
          <p:nvPr/>
        </p:nvSpPr>
        <p:spPr>
          <a:xfrm>
            <a:off x="6275137" y="5016799"/>
            <a:ext cx="114590" cy="963376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Rectangle 115"/>
          <p:cNvSpPr/>
          <p:nvPr/>
        </p:nvSpPr>
        <p:spPr>
          <a:xfrm>
            <a:off x="6454426" y="5534383"/>
            <a:ext cx="187602" cy="44579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17" name="Connector 116"/>
          <p:cNvCxnSpPr/>
          <p:nvPr/>
        </p:nvCxnSpPr>
        <p:spPr>
          <a:xfrm>
            <a:off x="6477286" y="5607535"/>
            <a:ext cx="14188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8" name="Connector 117"/>
          <p:cNvCxnSpPr/>
          <p:nvPr/>
        </p:nvCxnSpPr>
        <p:spPr>
          <a:xfrm>
            <a:off x="6477286" y="5708119"/>
            <a:ext cx="14188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9" name="Connector 118"/>
          <p:cNvCxnSpPr/>
          <p:nvPr/>
        </p:nvCxnSpPr>
        <p:spPr>
          <a:xfrm>
            <a:off x="6477286" y="5808703"/>
            <a:ext cx="14188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6633716" y="5467687"/>
            <a:ext cx="163359" cy="512488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ectangle 120"/>
          <p:cNvSpPr/>
          <p:nvPr/>
        </p:nvSpPr>
        <p:spPr>
          <a:xfrm>
            <a:off x="6813006" y="5415602"/>
            <a:ext cx="191791" cy="56457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Rectangle 121"/>
          <p:cNvSpPr/>
          <p:nvPr/>
        </p:nvSpPr>
        <p:spPr>
          <a:xfrm>
            <a:off x="6992295" y="5590448"/>
            <a:ext cx="120504" cy="389727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3" name="Connector 122"/>
          <p:cNvCxnSpPr/>
          <p:nvPr/>
        </p:nvCxnSpPr>
        <p:spPr>
          <a:xfrm>
            <a:off x="7015155" y="5663600"/>
            <a:ext cx="747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4" name="Connector 123"/>
          <p:cNvCxnSpPr/>
          <p:nvPr/>
        </p:nvCxnSpPr>
        <p:spPr>
          <a:xfrm>
            <a:off x="7015155" y="5764184"/>
            <a:ext cx="747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5" name="Connector 124"/>
          <p:cNvCxnSpPr/>
          <p:nvPr/>
        </p:nvCxnSpPr>
        <p:spPr>
          <a:xfrm>
            <a:off x="7015155" y="5864768"/>
            <a:ext cx="74785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6" name="Rectangle 125"/>
          <p:cNvSpPr/>
          <p:nvPr/>
        </p:nvSpPr>
        <p:spPr>
          <a:xfrm>
            <a:off x="7171585" y="5577172"/>
            <a:ext cx="153037" cy="40300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7350875" y="5053945"/>
            <a:ext cx="155585" cy="926230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Rectangle 127"/>
          <p:cNvSpPr/>
          <p:nvPr/>
        </p:nvSpPr>
        <p:spPr>
          <a:xfrm>
            <a:off x="7530164" y="5612945"/>
            <a:ext cx="135265" cy="367230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29" name="Connector 128"/>
          <p:cNvCxnSpPr/>
          <p:nvPr/>
        </p:nvCxnSpPr>
        <p:spPr>
          <a:xfrm>
            <a:off x="7553024" y="5686097"/>
            <a:ext cx="8954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0" name="Connector 129"/>
          <p:cNvCxnSpPr/>
          <p:nvPr/>
        </p:nvCxnSpPr>
        <p:spPr>
          <a:xfrm>
            <a:off x="7553024" y="5786681"/>
            <a:ext cx="8954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1" name="Connector 130"/>
          <p:cNvCxnSpPr/>
          <p:nvPr/>
        </p:nvCxnSpPr>
        <p:spPr>
          <a:xfrm>
            <a:off x="7553024" y="5887265"/>
            <a:ext cx="8954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2" name="Rectangle 131"/>
          <p:cNvSpPr/>
          <p:nvPr/>
        </p:nvSpPr>
        <p:spPr>
          <a:xfrm>
            <a:off x="7709454" y="5373852"/>
            <a:ext cx="200897" cy="60632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Rectangle 132"/>
          <p:cNvSpPr/>
          <p:nvPr/>
        </p:nvSpPr>
        <p:spPr>
          <a:xfrm>
            <a:off x="7888743" y="5754820"/>
            <a:ext cx="101415" cy="22535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Rectangle 133"/>
          <p:cNvSpPr/>
          <p:nvPr/>
        </p:nvSpPr>
        <p:spPr>
          <a:xfrm>
            <a:off x="8068033" y="5276701"/>
            <a:ext cx="103471" cy="70347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5" name="Connector 134"/>
          <p:cNvCxnSpPr/>
          <p:nvPr/>
        </p:nvCxnSpPr>
        <p:spPr>
          <a:xfrm>
            <a:off x="8090893" y="5349853"/>
            <a:ext cx="5775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Connector 135"/>
          <p:cNvCxnSpPr/>
          <p:nvPr/>
        </p:nvCxnSpPr>
        <p:spPr>
          <a:xfrm>
            <a:off x="8090893" y="5450437"/>
            <a:ext cx="5775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7" name="Connector 136"/>
          <p:cNvCxnSpPr/>
          <p:nvPr/>
        </p:nvCxnSpPr>
        <p:spPr>
          <a:xfrm>
            <a:off x="8090893" y="5551021"/>
            <a:ext cx="5775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8247323" y="5445831"/>
            <a:ext cx="178353" cy="53434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Rectangle 138"/>
          <p:cNvSpPr/>
          <p:nvPr/>
        </p:nvSpPr>
        <p:spPr>
          <a:xfrm>
            <a:off x="8426612" y="5479232"/>
            <a:ext cx="98410" cy="50094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Rectangle 139"/>
          <p:cNvSpPr/>
          <p:nvPr/>
        </p:nvSpPr>
        <p:spPr>
          <a:xfrm>
            <a:off x="8605902" y="5357714"/>
            <a:ext cx="200742" cy="62246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1" name="Connector 140"/>
          <p:cNvCxnSpPr/>
          <p:nvPr/>
        </p:nvCxnSpPr>
        <p:spPr>
          <a:xfrm>
            <a:off x="8628762" y="5430866"/>
            <a:ext cx="15502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2" name="Connector 141"/>
          <p:cNvCxnSpPr/>
          <p:nvPr/>
        </p:nvCxnSpPr>
        <p:spPr>
          <a:xfrm>
            <a:off x="8628762" y="5531450"/>
            <a:ext cx="15502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3" name="Connector 142"/>
          <p:cNvCxnSpPr/>
          <p:nvPr/>
        </p:nvCxnSpPr>
        <p:spPr>
          <a:xfrm>
            <a:off x="8628762" y="5632034"/>
            <a:ext cx="155022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8785192" y="5084464"/>
            <a:ext cx="197994" cy="89571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Rectangle 144"/>
          <p:cNvSpPr/>
          <p:nvPr/>
        </p:nvSpPr>
        <p:spPr>
          <a:xfrm>
            <a:off x="8964481" y="5199854"/>
            <a:ext cx="92699" cy="78032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Rectangle 145"/>
          <p:cNvSpPr/>
          <p:nvPr/>
        </p:nvSpPr>
        <p:spPr>
          <a:xfrm>
            <a:off x="9143771" y="5351242"/>
            <a:ext cx="166242" cy="628933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7" name="Connector 146"/>
          <p:cNvCxnSpPr/>
          <p:nvPr/>
        </p:nvCxnSpPr>
        <p:spPr>
          <a:xfrm>
            <a:off x="9166631" y="5424394"/>
            <a:ext cx="12052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8" name="Connector 147"/>
          <p:cNvCxnSpPr/>
          <p:nvPr/>
        </p:nvCxnSpPr>
        <p:spPr>
          <a:xfrm>
            <a:off x="9166631" y="5524978"/>
            <a:ext cx="12052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9" name="Connector 148"/>
          <p:cNvCxnSpPr/>
          <p:nvPr/>
        </p:nvCxnSpPr>
        <p:spPr>
          <a:xfrm>
            <a:off x="9166631" y="5625562"/>
            <a:ext cx="12052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0" name="Rectangle 149"/>
          <p:cNvSpPr/>
          <p:nvPr/>
        </p:nvSpPr>
        <p:spPr>
          <a:xfrm>
            <a:off x="9323061" y="5265566"/>
            <a:ext cx="120718" cy="714609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Rectangle 150"/>
          <p:cNvSpPr/>
          <p:nvPr/>
        </p:nvSpPr>
        <p:spPr>
          <a:xfrm>
            <a:off x="9502350" y="5435446"/>
            <a:ext cx="103680" cy="544729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Rectangle 151"/>
          <p:cNvSpPr/>
          <p:nvPr/>
        </p:nvSpPr>
        <p:spPr>
          <a:xfrm>
            <a:off x="9681640" y="5007813"/>
            <a:ext cx="141226" cy="97236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3" name="Connector 152"/>
          <p:cNvCxnSpPr/>
          <p:nvPr/>
        </p:nvCxnSpPr>
        <p:spPr>
          <a:xfrm>
            <a:off x="9704500" y="5080965"/>
            <a:ext cx="9550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4" name="Connector 153"/>
          <p:cNvCxnSpPr/>
          <p:nvPr/>
        </p:nvCxnSpPr>
        <p:spPr>
          <a:xfrm>
            <a:off x="9704500" y="5181549"/>
            <a:ext cx="9550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5" name="Connector 154"/>
          <p:cNvCxnSpPr/>
          <p:nvPr/>
        </p:nvCxnSpPr>
        <p:spPr>
          <a:xfrm>
            <a:off x="9704500" y="5282133"/>
            <a:ext cx="95506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6" name="Rectangle 155"/>
          <p:cNvSpPr/>
          <p:nvPr/>
        </p:nvSpPr>
        <p:spPr>
          <a:xfrm>
            <a:off x="9860929" y="5576638"/>
            <a:ext cx="187545" cy="403537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Rectangle 156"/>
          <p:cNvSpPr/>
          <p:nvPr/>
        </p:nvSpPr>
        <p:spPr>
          <a:xfrm>
            <a:off x="10040219" y="5646451"/>
            <a:ext cx="146368" cy="333724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Rectangle 157"/>
          <p:cNvSpPr/>
          <p:nvPr/>
        </p:nvSpPr>
        <p:spPr>
          <a:xfrm>
            <a:off x="10219509" y="5076440"/>
            <a:ext cx="191580" cy="90373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59" name="Connector 158"/>
          <p:cNvCxnSpPr/>
          <p:nvPr/>
        </p:nvCxnSpPr>
        <p:spPr>
          <a:xfrm>
            <a:off x="10242369" y="5149592"/>
            <a:ext cx="145861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0" name="Connector 159"/>
          <p:cNvCxnSpPr/>
          <p:nvPr/>
        </p:nvCxnSpPr>
        <p:spPr>
          <a:xfrm>
            <a:off x="10242369" y="5250176"/>
            <a:ext cx="145861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1" name="Connector 160"/>
          <p:cNvCxnSpPr/>
          <p:nvPr/>
        </p:nvCxnSpPr>
        <p:spPr>
          <a:xfrm>
            <a:off x="10242369" y="5350760"/>
            <a:ext cx="145861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2" name="Rectangle 161"/>
          <p:cNvSpPr/>
          <p:nvPr/>
        </p:nvSpPr>
        <p:spPr>
          <a:xfrm>
            <a:off x="10398798" y="5267224"/>
            <a:ext cx="124187" cy="71295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Rectangle 162"/>
          <p:cNvSpPr/>
          <p:nvPr/>
        </p:nvSpPr>
        <p:spPr>
          <a:xfrm>
            <a:off x="10578088" y="5667718"/>
            <a:ext cx="158261" cy="312457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Rectangle 163"/>
          <p:cNvSpPr/>
          <p:nvPr/>
        </p:nvSpPr>
        <p:spPr>
          <a:xfrm>
            <a:off x="10757378" y="5349257"/>
            <a:ext cx="175108" cy="630918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65" name="Connector 164"/>
          <p:cNvCxnSpPr/>
          <p:nvPr/>
        </p:nvCxnSpPr>
        <p:spPr>
          <a:xfrm>
            <a:off x="10780238" y="5422409"/>
            <a:ext cx="12938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6" name="Connector 165"/>
          <p:cNvCxnSpPr/>
          <p:nvPr/>
        </p:nvCxnSpPr>
        <p:spPr>
          <a:xfrm>
            <a:off x="10780238" y="5522993"/>
            <a:ext cx="12938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7" name="Connector 166"/>
          <p:cNvCxnSpPr/>
          <p:nvPr/>
        </p:nvCxnSpPr>
        <p:spPr>
          <a:xfrm>
            <a:off x="10780238" y="5623577"/>
            <a:ext cx="129388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8" name="Rectangle 167"/>
          <p:cNvSpPr/>
          <p:nvPr/>
        </p:nvSpPr>
        <p:spPr>
          <a:xfrm>
            <a:off x="10936667" y="5356693"/>
            <a:ext cx="176877" cy="62348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Rectangle 168"/>
          <p:cNvSpPr/>
          <p:nvPr/>
        </p:nvSpPr>
        <p:spPr>
          <a:xfrm>
            <a:off x="11115957" y="5526574"/>
            <a:ext cx="91502" cy="453601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Rectangle 169"/>
          <p:cNvSpPr/>
          <p:nvPr/>
        </p:nvSpPr>
        <p:spPr>
          <a:xfrm>
            <a:off x="11295247" y="5028177"/>
            <a:ext cx="93577" cy="951998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1" name="Connector 170"/>
          <p:cNvCxnSpPr/>
          <p:nvPr/>
        </p:nvCxnSpPr>
        <p:spPr>
          <a:xfrm>
            <a:off x="11318107" y="5101329"/>
            <a:ext cx="4785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2" name="Connector 171"/>
          <p:cNvCxnSpPr/>
          <p:nvPr/>
        </p:nvCxnSpPr>
        <p:spPr>
          <a:xfrm>
            <a:off x="11318107" y="5201913"/>
            <a:ext cx="4785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3" name="Connector 172"/>
          <p:cNvCxnSpPr/>
          <p:nvPr/>
        </p:nvCxnSpPr>
        <p:spPr>
          <a:xfrm>
            <a:off x="11318107" y="5302497"/>
            <a:ext cx="47857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11474536" y="5108450"/>
            <a:ext cx="187860" cy="87172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Rectangle 174"/>
          <p:cNvSpPr/>
          <p:nvPr/>
        </p:nvSpPr>
        <p:spPr>
          <a:xfrm>
            <a:off x="11653826" y="5745915"/>
            <a:ext cx="125182" cy="234260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Rectangle 175"/>
          <p:cNvSpPr/>
          <p:nvPr/>
        </p:nvSpPr>
        <p:spPr>
          <a:xfrm>
            <a:off x="11833115" y="5013470"/>
            <a:ext cx="187782" cy="966705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77" name="Connector 176"/>
          <p:cNvCxnSpPr/>
          <p:nvPr/>
        </p:nvCxnSpPr>
        <p:spPr>
          <a:xfrm>
            <a:off x="11855975" y="5086622"/>
            <a:ext cx="14206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8" name="Connector 177"/>
          <p:cNvCxnSpPr/>
          <p:nvPr/>
        </p:nvCxnSpPr>
        <p:spPr>
          <a:xfrm>
            <a:off x="11855975" y="5187206"/>
            <a:ext cx="14206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9" name="Connector 178"/>
          <p:cNvCxnSpPr/>
          <p:nvPr/>
        </p:nvCxnSpPr>
        <p:spPr>
          <a:xfrm>
            <a:off x="11855975" y="5287790"/>
            <a:ext cx="142063" cy="0"/>
          </a:xfrm>
          <a:prstGeom prst="line">
            <a:avLst/>
          </a:prstGeom>
          <a:ln w="12700">
            <a:solidFill>
              <a:srgbClr val="ECF9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12012405" y="5393243"/>
            <a:ext cx="100838" cy="586932"/>
          </a:xfrm>
          <a:prstGeom prst="rect">
            <a:avLst/>
          </a:prstGeom>
          <a:solidFill>
            <a:srgbClr val="AFDC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81" name="Connector 180"/>
          <p:cNvCxnSpPr/>
          <p:nvPr/>
        </p:nvCxnSpPr>
        <p:spPr>
          <a:xfrm>
            <a:off x="0" y="5980176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2" name="Connector 181"/>
          <p:cNvCxnSpPr/>
          <p:nvPr/>
        </p:nvCxnSpPr>
        <p:spPr>
          <a:xfrm flipV="1">
            <a:off x="0" y="60076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3" name="Connector 182"/>
          <p:cNvCxnSpPr/>
          <p:nvPr/>
        </p:nvCxnSpPr>
        <p:spPr>
          <a:xfrm flipV="1">
            <a:off x="0" y="60624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4" name="Connector 183"/>
          <p:cNvCxnSpPr/>
          <p:nvPr/>
        </p:nvCxnSpPr>
        <p:spPr>
          <a:xfrm flipV="1">
            <a:off x="0" y="6117336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5" name="Connector 184"/>
          <p:cNvCxnSpPr/>
          <p:nvPr/>
        </p:nvCxnSpPr>
        <p:spPr>
          <a:xfrm flipV="1">
            <a:off x="0" y="617220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6" name="Rounded Rectangle 185"/>
          <p:cNvSpPr/>
          <p:nvPr/>
        </p:nvSpPr>
        <p:spPr>
          <a:xfrm>
            <a:off x="713232" y="6181344"/>
            <a:ext cx="10808208" cy="3291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TextBox 186"/>
          <p:cNvSpPr txBox="1"/>
          <p:nvPr/>
        </p:nvSpPr>
        <p:spPr>
          <a:xfrm>
            <a:off x="914400" y="6254496"/>
            <a:ext cx="1037844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内部讨论稿  |  依据附件一截图、25条赛道图表及附件三编制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总体思路  /  回答“投行从明天开始抓什么”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把产业研究转化为名单、方案和拜访节奏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保供业务稳住基本盘，围绕绿色化、智能化和深加工寻找增量。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依据：附件一截图、附件三；实施安排为建议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61388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929384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2084831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216255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0" y="211226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客户名单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5528" y="2679191"/>
            <a:ext cx="3108960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04672" y="2843784"/>
            <a:ext cx="3090672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25条赛道建立可核验项目库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存量：授信/投资/客户流失回溯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增量：园区、链主、真实订单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责任：每户明确经营机构与投行经理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66260" y="1961388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43400" y="1929384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489704" y="2084831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8848" y="216255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0" y="211226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产品方案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44568" y="2679191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53712" y="2843784"/>
            <a:ext cx="3090672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债券承销、银团并购、融资撮合、对公理财协同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按企业阶段与现金流配产品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每户形成主方案与备选方案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15300" y="1961388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092440" y="1929384"/>
            <a:ext cx="3511296" cy="34930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238744" y="2084831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47888" y="216255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78240" y="211226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拜访与推进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293608" y="2679191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302752" y="2843784"/>
            <a:ext cx="3090672" cy="246887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周更新、双周会诊、月度督导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每次拜访带着需求问题与方案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6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每个项目明确节点、堵点和退出条件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交付“四件套”：客户清单、融资方案、政策核验表、项目推进台账。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经营起点  /  以附件三9月末指标表为基线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补短板与稳基本盘并行，先统一经营口径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承销、银团与理财存在缺口；撮合规模先核对正文与表格差异。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1993392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77393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业务（亿元）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87752" y="1828800"/>
            <a:ext cx="100584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97480" y="1924812"/>
            <a:ext cx="786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全年任务</a:t>
            </a:r>
          </a:p>
        </p:txBody>
      </p:sp>
      <p:sp>
        <p:nvSpPr>
          <p:cNvPr id="88" name="Rectangle 87"/>
          <p:cNvSpPr/>
          <p:nvPr/>
        </p:nvSpPr>
        <p:spPr>
          <a:xfrm>
            <a:off x="3593592" y="1828800"/>
            <a:ext cx="1874519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3703320" y="1924812"/>
            <a:ext cx="165506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9月末/正文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468112" y="1828800"/>
            <a:ext cx="207568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5577840" y="1924812"/>
            <a:ext cx="185623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全年任务达成率¹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543800" y="1828800"/>
            <a:ext cx="1399032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653527" y="1924812"/>
            <a:ext cx="11795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原预计年底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942832" y="1828800"/>
            <a:ext cx="2642616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9052559" y="1924812"/>
            <a:ext cx="2423160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原预计缺口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249424"/>
            <a:ext cx="199339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235915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债券承销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87752" y="2249424"/>
            <a:ext cx="10058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97480" y="2359152"/>
            <a:ext cx="7863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46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3593592" y="2249424"/>
            <a:ext cx="1874519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3703320" y="2359152"/>
            <a:ext cx="165506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18.5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468112" y="2249424"/>
            <a:ext cx="2075688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5577840" y="2359152"/>
            <a:ext cx="1856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40.2%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7543800" y="2249424"/>
            <a:ext cx="139903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7653527" y="2359152"/>
            <a:ext cx="1179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34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942832" y="2249424"/>
            <a:ext cx="264261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052559" y="235915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2843784"/>
            <a:ext cx="1993392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295351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银团投放及流转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87752" y="2843784"/>
            <a:ext cx="1005840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697480" y="2953512"/>
            <a:ext cx="7863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3.06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3593592" y="2843784"/>
            <a:ext cx="1874519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3703320" y="2953512"/>
            <a:ext cx="165506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0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468112" y="2843784"/>
            <a:ext cx="2075688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5577840" y="2953512"/>
            <a:ext cx="1856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0%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7543800" y="2843784"/>
            <a:ext cx="1399032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7653527" y="2953512"/>
            <a:ext cx="1179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942832" y="2843784"/>
            <a:ext cx="2642616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9052559" y="295351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0.06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4360" y="3438144"/>
            <a:ext cx="199339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4088" y="354787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撮合对接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587752" y="3438144"/>
            <a:ext cx="1005840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2697480" y="3547872"/>
            <a:ext cx="7863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30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593592" y="3438144"/>
            <a:ext cx="1874519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3703320" y="3547872"/>
            <a:ext cx="165506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25.63 / 38.39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5468112" y="3438144"/>
            <a:ext cx="2075688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5577840" y="3547872"/>
            <a:ext cx="1856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待核实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7543800" y="3438144"/>
            <a:ext cx="1399032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TextBox 128"/>
          <p:cNvSpPr txBox="1"/>
          <p:nvPr/>
        </p:nvSpPr>
        <p:spPr>
          <a:xfrm>
            <a:off x="7653527" y="3547872"/>
            <a:ext cx="1179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40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8942832" y="3438144"/>
            <a:ext cx="2642616" cy="59436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TextBox 130"/>
          <p:cNvSpPr txBox="1"/>
          <p:nvPr/>
        </p:nvSpPr>
        <p:spPr>
          <a:xfrm>
            <a:off x="9052559" y="354787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不据此新增任务</a:t>
            </a:r>
          </a:p>
        </p:txBody>
      </p:sp>
      <p:sp>
        <p:nvSpPr>
          <p:cNvPr id="132" name="Rectangle 131"/>
          <p:cNvSpPr/>
          <p:nvPr/>
        </p:nvSpPr>
        <p:spPr>
          <a:xfrm>
            <a:off x="594360" y="4032504"/>
            <a:ext cx="1993392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TextBox 132"/>
          <p:cNvSpPr txBox="1"/>
          <p:nvPr/>
        </p:nvSpPr>
        <p:spPr>
          <a:xfrm>
            <a:off x="704088" y="4142232"/>
            <a:ext cx="177393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对公理财月日均</a:t>
            </a:r>
          </a:p>
        </p:txBody>
      </p:sp>
      <p:sp>
        <p:nvSpPr>
          <p:cNvPr id="134" name="Rectangle 133"/>
          <p:cNvSpPr/>
          <p:nvPr/>
        </p:nvSpPr>
        <p:spPr>
          <a:xfrm>
            <a:off x="2587752" y="4032504"/>
            <a:ext cx="1005840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TextBox 134"/>
          <p:cNvSpPr txBox="1"/>
          <p:nvPr/>
        </p:nvSpPr>
        <p:spPr>
          <a:xfrm>
            <a:off x="2697480" y="4142232"/>
            <a:ext cx="786384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3.50</a:t>
            </a:r>
          </a:p>
        </p:txBody>
      </p:sp>
      <p:sp>
        <p:nvSpPr>
          <p:cNvPr id="136" name="Rectangle 135"/>
          <p:cNvSpPr/>
          <p:nvPr/>
        </p:nvSpPr>
        <p:spPr>
          <a:xfrm>
            <a:off x="3593592" y="4032504"/>
            <a:ext cx="1874519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TextBox 136"/>
          <p:cNvSpPr txBox="1"/>
          <p:nvPr/>
        </p:nvSpPr>
        <p:spPr>
          <a:xfrm>
            <a:off x="3703320" y="4142232"/>
            <a:ext cx="1655063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1.42</a:t>
            </a:r>
          </a:p>
        </p:txBody>
      </p:sp>
      <p:sp>
        <p:nvSpPr>
          <p:cNvPr id="138" name="Rectangle 137"/>
          <p:cNvSpPr/>
          <p:nvPr/>
        </p:nvSpPr>
        <p:spPr>
          <a:xfrm>
            <a:off x="5468112" y="4032504"/>
            <a:ext cx="2075688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TextBox 138"/>
          <p:cNvSpPr txBox="1"/>
          <p:nvPr/>
        </p:nvSpPr>
        <p:spPr>
          <a:xfrm>
            <a:off x="5577840" y="4142232"/>
            <a:ext cx="1856232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40.6%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7543800" y="4032504"/>
            <a:ext cx="1399032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TextBox 140"/>
          <p:cNvSpPr txBox="1"/>
          <p:nvPr/>
        </p:nvSpPr>
        <p:spPr>
          <a:xfrm>
            <a:off x="7653527" y="4142232"/>
            <a:ext cx="1179576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8942832" y="4032504"/>
            <a:ext cx="2642616" cy="59436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TextBox 142"/>
          <p:cNvSpPr txBox="1"/>
          <p:nvPr/>
        </p:nvSpPr>
        <p:spPr>
          <a:xfrm>
            <a:off x="9052559" y="4142232"/>
            <a:ext cx="242316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1.50</a:t>
            </a:r>
          </a:p>
        </p:txBody>
      </p:sp>
      <p:sp>
        <p:nvSpPr>
          <p:cNvPr id="144" name="TextBox 143"/>
          <p:cNvSpPr txBox="1"/>
          <p:nvPr/>
        </p:nvSpPr>
        <p:spPr>
          <a:xfrm>
            <a:off x="640080" y="4663440"/>
            <a:ext cx="10927080" cy="1737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¹按全年任务计算，非序时完成率；“原预计”均为附件三材料时点预测，未视作已完成。</a:t>
            </a:r>
          </a:p>
        </p:txBody>
      </p:sp>
      <p:sp>
        <p:nvSpPr>
          <p:cNvPr id="145" name="Rounded Rectangle 144"/>
          <p:cNvSpPr/>
          <p:nvPr/>
        </p:nvSpPr>
        <p:spPr>
          <a:xfrm>
            <a:off x="594360" y="4846320"/>
            <a:ext cx="10991088" cy="7132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777240" y="5020056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客户基础</a:t>
            </a:r>
          </a:p>
        </p:txBody>
      </p:sp>
      <p:sp>
        <p:nvSpPr>
          <p:cNvPr id="147" name="TextBox 146"/>
          <p:cNvSpPr txBox="1"/>
          <p:nvPr/>
        </p:nvSpPr>
        <p:spPr>
          <a:xfrm>
            <a:off x="1956816" y="5001768"/>
            <a:ext cx="9326880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理财有效客户64户，千万级客户仅3户；债承、银团均需从存量核心客群补链。</a:t>
            </a:r>
          </a:p>
        </p:txBody>
      </p:sp>
      <p:sp>
        <p:nvSpPr>
          <p:cNvPr id="148" name="Rounded Rectangle 147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Rounded Rectangle 148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先纠正统计口径，再按“到期债务、已批未放、设备更新、运营现金”识别需求。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问题导向  /  从“产品推介”转向“项目经营”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五个经营堵点，对应五项机制改造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机制建设由投行牵头协同，具体授权、考核及费用安排履行行内审批。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278892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256946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附件三暴露的问题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83279" y="1828800"/>
            <a:ext cx="425196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493008" y="1924812"/>
            <a:ext cx="40325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拟建立的配套机制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635240" y="1828800"/>
            <a:ext cx="395020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744967" y="1924812"/>
            <a:ext cx="373075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直接检验结果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27889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2569463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有授信/有投资，无承销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83279" y="2249424"/>
            <a:ext cx="425196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493008" y="2359152"/>
            <a:ext cx="40325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逐户年度投行方案；投资与承销双向沟通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635240" y="2249424"/>
            <a:ext cx="395020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744967" y="2359152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发行窗口、客户授权、意向份额可核验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898648"/>
            <a:ext cx="2788920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3008376"/>
            <a:ext cx="2569463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管户调整导致业务流失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83279" y="2898648"/>
            <a:ext cx="4251960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493008" y="3008376"/>
            <a:ext cx="40325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客户、业务、存续项目“三同步”交接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635240" y="2898648"/>
            <a:ext cx="3950208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44967" y="3008376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划转后责任人明确、项目推进不断档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547872"/>
            <a:ext cx="27889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657600"/>
            <a:ext cx="2569463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银团介入晚，重流资轻项目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83279" y="3547872"/>
            <a:ext cx="425196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493008" y="3657600"/>
            <a:ext cx="40325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储备/已批未放阶段前置筛选项目银团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635240" y="3547872"/>
            <a:ext cx="395020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744967" y="3657600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依据客户需求及资金缺口筹组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197096"/>
            <a:ext cx="2788920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306824"/>
            <a:ext cx="2569463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理论培训多，实操转化不足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383279" y="4197096"/>
            <a:ext cx="4251960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493008" y="4306824"/>
            <a:ext cx="40325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产品经理陪访＋一页方案＋真实案例复盘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635240" y="4197096"/>
            <a:ext cx="3950208" cy="64922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744967" y="4306824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一线能识别客户、准备资料和推进节点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846320"/>
            <a:ext cx="278892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956048"/>
            <a:ext cx="2569463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激励偏弱，资源支持受限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83279" y="4846320"/>
            <a:ext cx="4251960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493008" y="4956048"/>
            <a:ext cx="4032504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综合贡献评价＋政策申请清单＋节点督办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635240" y="4846320"/>
            <a:ext cx="3950208" cy="64922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744967" y="4956048"/>
            <a:ext cx="3730752" cy="49377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以合规落地、服务收入及回款验收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每个堵点设置责任人和可验证交付物，避免只留“加强、推进、争取”。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赛道全景  /  沿用用户图表的大类划分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25条赛道全覆盖，实行“一链一策、分层推进”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不按产业名称直接授信；按主体资质、项目成熟度与现金流选择产品。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依据：用户提供的25条赛道图表；分层方法为建议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18470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49808" y="196596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现代能源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5157216" y="19568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5条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49808" y="22128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煤炭（能源保供）｜电力与新型电力系统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非常规天然气（煤层气）｜新型储能｜氢能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08776" y="18470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364224" y="196596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煤化工与碳材料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0771632" y="19568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4条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364224" y="22128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焦化｜现代煤化工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碳基新材料｜废弃资源综合利用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4360" y="27614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49808" y="288036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先进材料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5157216" y="28712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5条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749808" y="31272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特钢材料｜铝镁精深加工｜铜基新材料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合成生物｜第三代半导体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08776" y="27614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364224" y="2880360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装备制造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771632" y="28712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4条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364224" y="31272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高端装备制造｜风电装备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新能源汽车｜光伏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94360" y="3675887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9808" y="3794759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特优农业与医药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5157216" y="3785615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2条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749808" y="40416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特优农业与食品｜现代医药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08776" y="3675887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6364224" y="3794759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数字经济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10771632" y="3785615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3条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364224" y="40416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文旅康养｜算力与数据要素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信息技术融合应用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94360" y="45902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49808" y="4709159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绿色建筑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5157216" y="47000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1条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749808" y="49560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装配式建筑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6208776" y="4590288"/>
            <a:ext cx="5385816" cy="8046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364224" y="4709159"/>
            <a:ext cx="2267712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未来产业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0771632" y="4700016"/>
            <a:ext cx="621792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1条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364224" y="4956048"/>
            <a:ext cx="5029200" cy="40233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低空经济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Rounded Rectangle 116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19" name="TextBox 118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“文旅康养”按原图归入数字经济；业务分析按文旅运营现金流开展。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经营排序  /  不把整个赛道简单标记为“优先”或“退出”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项目先分层，再决定投行资源投向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同一赛道可以同时存在成熟客户、建设项目和早期技术企业。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70532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938528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209397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2171700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A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0" y="2121408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现金流已验证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5528" y="2688336"/>
            <a:ext cx="3108960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04672" y="2852928"/>
            <a:ext cx="309067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存量发行人、已批未放、到期债务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主攻：承销续作、银团转化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首轮：核对窗口、额度与客户授权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804672" y="5102352"/>
            <a:ext cx="1417320" cy="274320"/>
          </a:xfrm>
          <a:prstGeom prst="roundRect">
            <a:avLst>
              <a:gd name="adj" fmla="val 5000"/>
            </a:avLst>
          </a:prstGeom>
          <a:solidFill>
            <a:srgbClr val="E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841248" y="5134356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近期落地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4366260" y="1970532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Rounded Rectangle 93"/>
          <p:cNvSpPr/>
          <p:nvPr/>
        </p:nvSpPr>
        <p:spPr>
          <a:xfrm>
            <a:off x="4343400" y="1938528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489704" y="209397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498848" y="2171700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B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5029200" y="2121408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项目条件可落实</a:t>
            </a:r>
          </a:p>
        </p:txBody>
      </p:sp>
      <p:cxnSp>
        <p:nvCxnSpPr>
          <p:cNvPr id="98" name="Connector 97"/>
          <p:cNvCxnSpPr/>
          <p:nvPr/>
        </p:nvCxnSpPr>
        <p:spPr>
          <a:xfrm>
            <a:off x="4544568" y="2688336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TextBox 98"/>
          <p:cNvSpPr txBox="1"/>
          <p:nvPr/>
        </p:nvSpPr>
        <p:spPr>
          <a:xfrm>
            <a:off x="4553712" y="2852928"/>
            <a:ext cx="309067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技改、扩产、设备更新与整合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主攻：银团、租赁、并购融资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首轮：核手续、资本金、订单及回款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4553712" y="5102352"/>
            <a:ext cx="1417320" cy="274320"/>
          </a:xfrm>
          <a:prstGeom prst="roundRect">
            <a:avLst>
              <a:gd name="adj" fmla="val 5000"/>
            </a:avLst>
          </a:prstGeom>
          <a:solidFill>
            <a:srgbClr val="E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4590288" y="5134356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重点培育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8115300" y="1970532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ounded Rectangle 102"/>
          <p:cNvSpPr/>
          <p:nvPr/>
        </p:nvSpPr>
        <p:spPr>
          <a:xfrm>
            <a:off x="8092440" y="1938528"/>
            <a:ext cx="3511296" cy="354787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8238744" y="209397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8247888" y="2171700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C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8778240" y="2121408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商业化仍待验证</a:t>
            </a:r>
          </a:p>
        </p:txBody>
      </p:sp>
      <p:cxnSp>
        <p:nvCxnSpPr>
          <p:cNvPr id="107" name="Connector 106"/>
          <p:cNvCxnSpPr/>
          <p:nvPr/>
        </p:nvCxnSpPr>
        <p:spPr>
          <a:xfrm>
            <a:off x="8293608" y="2688336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8" name="TextBox 107"/>
          <p:cNvSpPr txBox="1"/>
          <p:nvPr/>
        </p:nvSpPr>
        <p:spPr>
          <a:xfrm>
            <a:off x="8302752" y="2852928"/>
            <a:ext cx="3090672" cy="2523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研发、中试、示范及场景试验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主攻：股权/产业资本撮合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首轮：技术、场景、里程碑核验</a:t>
            </a:r>
          </a:p>
        </p:txBody>
      </p:sp>
      <p:sp>
        <p:nvSpPr>
          <p:cNvPr id="109" name="Rounded Rectangle 108"/>
          <p:cNvSpPr/>
          <p:nvPr/>
        </p:nvSpPr>
        <p:spPr>
          <a:xfrm>
            <a:off x="8302752" y="5102352"/>
            <a:ext cx="1417320" cy="274320"/>
          </a:xfrm>
          <a:prstGeom prst="roundRect">
            <a:avLst>
              <a:gd name="adj" fmla="val 5000"/>
            </a:avLst>
          </a:prstGeom>
          <a:solidFill>
            <a:srgbClr val="E2F4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8339327" y="5134356"/>
            <a:ext cx="1344168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审慎孵化</a:t>
            </a:r>
          </a:p>
        </p:txBody>
      </p:sp>
      <p:sp>
        <p:nvSpPr>
          <p:cNvPr id="111" name="Rounded Rectangle 110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Rounded Rectangle 111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资源优先给“真实需求＋成熟条件＋明确责任＋可验证回款”的项目。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产品支撑  /  产品组合围绕现金流与客户阶段形成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四类核心产品，覆盖融资与资金运营需求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具体业务品种以本行资质、授权、客户准入及适用规则为前提。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148132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2618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产品支柱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075688" y="1828800"/>
            <a:ext cx="527608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185416" y="1924812"/>
            <a:ext cx="5056631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经营场景与支撑方式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351775" y="1828800"/>
            <a:ext cx="4233672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461503" y="1924812"/>
            <a:ext cx="4014215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首轮必须形成的成果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148132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12618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债券承销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075688" y="2249424"/>
            <a:ext cx="527608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185416" y="2359152"/>
            <a:ext cx="505663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成熟主体SCP/MTN/PPN；合格用途探索绿色/科创等主题融资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351775" y="2249424"/>
            <a:ext cx="4233672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461503" y="2359152"/>
            <a:ext cx="401421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发行日历、募集用途、承销与资金端意向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990088"/>
            <a:ext cx="148132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3099816"/>
            <a:ext cx="12618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银团并购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075688" y="2990088"/>
            <a:ext cx="527608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185416" y="3099816"/>
            <a:ext cx="505663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建设/技改项目银团；真实并购交易按条件评估并购融资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351775" y="2990088"/>
            <a:ext cx="4233672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461503" y="3099816"/>
            <a:ext cx="401421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资金缺口、偿债模型、意向参贷行及筹组方案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730752"/>
            <a:ext cx="148132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840480"/>
            <a:ext cx="12618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融资撮合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075688" y="3730752"/>
            <a:ext cx="527608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185416" y="3840480"/>
            <a:ext cx="505663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租赁、产业资本、券商及其他合格资金方按需匹配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351775" y="3730752"/>
            <a:ext cx="4233672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461503" y="3840480"/>
            <a:ext cx="401421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需求书、合格机构清单、费用与服务边界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471416"/>
            <a:ext cx="148132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581144"/>
            <a:ext cx="126187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对公理财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075688" y="4471416"/>
            <a:ext cx="527608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185416" y="4581144"/>
            <a:ext cx="5056631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经营备付、季节闲置及结算资金分层管理；适配客户风险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351775" y="4471416"/>
            <a:ext cx="4233672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461503" y="4581144"/>
            <a:ext cx="4014215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资金日历、客户适当性、产品与期限匹配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常规产品先落地，创新工具逐项论证；不强行用债权资金覆盖早期技术风险。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中台赋能  /  培训、陪访、方案和资金端同步前置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把四类产品做成一线可用的标准作业包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每个产品经理负责若干赛道；经营机构保持客户关系与需求牵头责任。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52244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920240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95528" y="2103120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债承作业包</a:t>
            </a:r>
          </a:p>
        </p:txBody>
      </p:sp>
      <p:cxnSp>
        <p:nvCxnSpPr>
          <p:cNvPr id="87" name="Connector 86"/>
          <p:cNvCxnSpPr/>
          <p:nvPr/>
        </p:nvCxnSpPr>
        <p:spPr>
          <a:xfrm>
            <a:off x="795528" y="2670048"/>
            <a:ext cx="4974336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8" name="TextBox 87"/>
          <p:cNvSpPr txBox="1"/>
          <p:nvPr/>
        </p:nvSpPr>
        <p:spPr>
          <a:xfrm>
            <a:off x="804672" y="2834640"/>
            <a:ext cx="4956048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到期债务日历 → 客户授权 → 注册/发行材料 → 内外部投资人 → 发行与存续管理</a:t>
            </a:r>
          </a:p>
        </p:txBody>
      </p:sp>
      <p:sp>
        <p:nvSpPr>
          <p:cNvPr id="89" name="Rounded Rectangle 88"/>
          <p:cNvSpPr/>
          <p:nvPr/>
        </p:nvSpPr>
        <p:spPr>
          <a:xfrm>
            <a:off x="6240780" y="1952244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Rounded Rectangle 89"/>
          <p:cNvSpPr/>
          <p:nvPr/>
        </p:nvSpPr>
        <p:spPr>
          <a:xfrm>
            <a:off x="6217920" y="1920240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6419088" y="2103120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银团作业包</a:t>
            </a:r>
          </a:p>
        </p:txBody>
      </p:sp>
      <p:cxnSp>
        <p:nvCxnSpPr>
          <p:cNvPr id="92" name="Connector 91"/>
          <p:cNvCxnSpPr/>
          <p:nvPr/>
        </p:nvCxnSpPr>
        <p:spPr>
          <a:xfrm>
            <a:off x="6419088" y="2670048"/>
            <a:ext cx="4974336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3" name="TextBox 92"/>
          <p:cNvSpPr txBox="1"/>
          <p:nvPr/>
        </p:nvSpPr>
        <p:spPr>
          <a:xfrm>
            <a:off x="6428232" y="2834640"/>
            <a:ext cx="4956048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项目筛选 → 现金流/资本金核验 → 参贷意向 → 条款与审批 → 提款及贷后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617220" y="3799332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ounded Rectangle 94"/>
          <p:cNvSpPr/>
          <p:nvPr/>
        </p:nvSpPr>
        <p:spPr>
          <a:xfrm>
            <a:off x="594360" y="3767328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795528" y="395020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撮合作业包</a:t>
            </a:r>
          </a:p>
        </p:txBody>
      </p:sp>
      <p:cxnSp>
        <p:nvCxnSpPr>
          <p:cNvPr id="97" name="Connector 96"/>
          <p:cNvCxnSpPr/>
          <p:nvPr/>
        </p:nvCxnSpPr>
        <p:spPr>
          <a:xfrm>
            <a:off x="795528" y="4517136"/>
            <a:ext cx="4974336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8" name="TextBox 97"/>
          <p:cNvSpPr txBox="1"/>
          <p:nvPr/>
        </p:nvSpPr>
        <p:spPr>
          <a:xfrm>
            <a:off x="804672" y="4681728"/>
            <a:ext cx="4956048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需求确认 → 合作机构尽调 → 项目匹配 → 协议与费用 → 放款/出资及收费证据</a:t>
            </a:r>
          </a:p>
        </p:txBody>
      </p:sp>
      <p:sp>
        <p:nvSpPr>
          <p:cNvPr id="99" name="Rounded Rectangle 98"/>
          <p:cNvSpPr/>
          <p:nvPr/>
        </p:nvSpPr>
        <p:spPr>
          <a:xfrm>
            <a:off x="6240780" y="3799332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Rounded Rectangle 99"/>
          <p:cNvSpPr/>
          <p:nvPr/>
        </p:nvSpPr>
        <p:spPr>
          <a:xfrm>
            <a:off x="6217920" y="3767328"/>
            <a:ext cx="5376672" cy="16276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19088" y="3950208"/>
            <a:ext cx="4974336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理财作业包</a:t>
            </a:r>
          </a:p>
        </p:txBody>
      </p:sp>
      <p:cxnSp>
        <p:nvCxnSpPr>
          <p:cNvPr id="102" name="Connector 101"/>
          <p:cNvCxnSpPr/>
          <p:nvPr/>
        </p:nvCxnSpPr>
        <p:spPr>
          <a:xfrm>
            <a:off x="6419088" y="4517136"/>
            <a:ext cx="4974336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3" name="TextBox 102"/>
          <p:cNvSpPr txBox="1"/>
          <p:nvPr/>
        </p:nvSpPr>
        <p:spPr>
          <a:xfrm>
            <a:off x="6428232" y="4681728"/>
            <a:ext cx="4956048" cy="6035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资金用途与期限 → 适当性评估 → 产品筛选 → 风险揭示 → 到期与客户维护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ounded Rectangle 104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建议每月1次案例实训，重点项目联合陪访；培训以形成真实客户方案验收。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内部配套  /  以下均为拟申请事项，非现行新增授权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政策赋能先解决额度、协同和激励三项约束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原材料：单笔投资亏损上限15万元、下半年合计上限50万元；现行适用范围须由总行重核。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192024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7007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拟申请支持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514600" y="1828800"/>
            <a:ext cx="457200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624328" y="1924812"/>
            <a:ext cx="43525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具体机制建议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086600" y="1828800"/>
            <a:ext cx="449884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196328" y="1924812"/>
            <a:ext cx="427939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边界及验收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19202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170078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投承联动差异化支持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514600" y="2249424"/>
            <a:ext cx="457200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624328" y="2359152"/>
            <a:ext cx="435254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提交优质发行人候选名单；按资质、风险及综合贡献申请分级授权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086600" y="2249424"/>
            <a:ext cx="44988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196328" y="2359152"/>
            <a:ext cx="427939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总行审批后执行；投资独立决策，不突破现有限额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990088"/>
            <a:ext cx="1920240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3099816"/>
            <a:ext cx="170078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项目协同与会诊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514600" y="2990088"/>
            <a:ext cx="4572000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624328" y="3099816"/>
            <a:ext cx="435254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投行、公司、风险、金融市场等指定接口；疑难项目双周会诊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086600" y="2990088"/>
            <a:ext cx="449884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196328" y="3099816"/>
            <a:ext cx="427939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“快速响应”不等于审批通过或降低准入标准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730752"/>
            <a:ext cx="192024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840480"/>
            <a:ext cx="170078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业绩归属与收益评价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514600" y="3730752"/>
            <a:ext cx="4572000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624328" y="3840480"/>
            <a:ext cx="435254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明确主办/协办贡献及客户划转交接；按落地和收入回款评价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086600" y="3730752"/>
            <a:ext cx="4498848" cy="74066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196328" y="3840480"/>
            <a:ext cx="427939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不重复计量，不以单纯投资规模替代综合收益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471416"/>
            <a:ext cx="1920240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581144"/>
            <a:ext cx="170078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费用与队伍保障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514600" y="4471416"/>
            <a:ext cx="4572000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624328" y="4581144"/>
            <a:ext cx="435254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申请重点项目陪访/培训预算，依法依规支付外部专业服务费用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086600" y="4471416"/>
            <a:ext cx="4498848" cy="74066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196328" y="4581144"/>
            <a:ext cx="4279392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预算审批、服务协议、成果证据及结算闭环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Rounded Rectangle 114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政策申请包必须同时列明客户、业务机会、资源需求、收益测算与风险边界。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政策适配  /  以业务办理时现行规则和权威文件为准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外部政策用“准入核验＋证据材料”转化为工具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不把产业目录、园区推荐或政府规划直接视为融资资格、绿色认证或信用担保。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182880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6093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适配方向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423160" y="1828800"/>
            <a:ext cx="402336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532888" y="1924812"/>
            <a:ext cx="380390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可探索的融资工具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446520" y="1828800"/>
            <a:ext cx="513892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556248" y="1924812"/>
            <a:ext cx="49194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需核验的核心证据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1828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16093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绿色化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423160" y="2249424"/>
            <a:ext cx="40233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532888" y="2359152"/>
            <a:ext cx="38039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符合标准的绿色债、绿色项目银团等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446520" y="2249424"/>
            <a:ext cx="5138928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556248" y="2359152"/>
            <a:ext cx="49194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募集用途、绿色认定、环境效益、资金及信息披露管理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852928"/>
            <a:ext cx="1828800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2962656"/>
            <a:ext cx="16093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科技创新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423160" y="2852928"/>
            <a:ext cx="4023360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532888" y="2962656"/>
            <a:ext cx="38039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符合发行条件的科创债；产业资本撮合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446520" y="2852928"/>
            <a:ext cx="5138928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556248" y="2962656"/>
            <a:ext cx="49194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发行主体/用途适配、研发与技术证据、合规披露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456432"/>
            <a:ext cx="1828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566160"/>
            <a:ext cx="16093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设备更新与转型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423160" y="3456432"/>
            <a:ext cx="40233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532888" y="3566160"/>
            <a:ext cx="38039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技改银团、设备租赁；适用转型工具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446520" y="3456432"/>
            <a:ext cx="5138928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556248" y="3566160"/>
            <a:ext cx="49194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设备清单、改造基线、节能减排测算与验收计划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059936"/>
            <a:ext cx="1828800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169664"/>
            <a:ext cx="16093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并购整合与资产盘活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423160" y="4059936"/>
            <a:ext cx="4023360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532888" y="4169664"/>
            <a:ext cx="38039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符合条件的并购融资；ABS等路径评估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446520" y="4059936"/>
            <a:ext cx="5138928" cy="603504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556248" y="4169664"/>
            <a:ext cx="49194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真实交易、支付安排、可执行权属及稳定回款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663440"/>
            <a:ext cx="182880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773168"/>
            <a:ext cx="160934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风险缓释与资金引入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423160" y="4663440"/>
            <a:ext cx="4023360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532888" y="4773168"/>
            <a:ext cx="3803904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依法依规探索增信、CRMW等合作工具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446520" y="4663440"/>
            <a:ext cx="5138928" cy="603504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556248" y="4773168"/>
            <a:ext cx="4919472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本行及合作方资质、额度、适用主体与交易规则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一项目一张政策核验表：规则来源、适用条款、证明材料、责任人和有效日期。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现代能源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煤炭（能源保供） × 电力与新型电力系统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煤炭（能源保供）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保供周转、存量债到期、智能化改造；区分经营周转与项目建设。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成熟发行人：SCP/MTN；改造项目：项目银团；设备更新：租赁撮合。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从潞安矿业、晋控煤业储备切入，核对发行窗口、募集用途及到期债务。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核验产能及矿权、安全环保、保供合同；不把煤炭项目直接认定为绿色。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形成到期债务日历＋发行/银团备选方案。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电力与新型电力系统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电源、电网及调节能力建设周期长，投产后回款与电价机制相关。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项目银团＋设备租赁；成熟主体债券融资；合格绿色项目探索绿色债。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锁定已核准/备案、具备并网和购售电安排的项目，倒排资金到位时间。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落实资本金、消纳/并网条件，压力测试电价、利用小时及建设延期。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形成项目现金流模型＋银团邀约清单。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现代能源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非常规天然气（煤层气） × 新型储能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非常规天然气（煤层气）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勘探开发投入前置，井组递减、集输配套与售气回款节奏不同。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已形成产销现金流项目：项目银团；成熟主体MTN；设备租赁撮合。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优先在产扩建与集输项目，取得储量、产量、售气合同和回款记录。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区分勘探风险与开发风险；核验资源权属、气价及产量递减假设。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形成井组/项目分层清单与偿债测算。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04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新型储能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设备投入大，收益依赖应用场景、调用频次和结算机制。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项目银团＋租赁撮合；符合标准的项目探索绿色融资。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先核实电网侧、用户侧等场景，取得并网、容量/服务合同及结算依据。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不以未确认补偿、峰谷价差预测替代稳定现金流；关注循环寿命和消防。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形成分场景收益模型与敏感性测试。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现代能源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氢能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氢能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制储运加用全链投入，示范订单向稳定商业化转换仍需验证。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起步期：基金/产业资本撮合；有确定订单的设备：租赁；成熟项目评估银团。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优先有真实购氢/用氢合同的项目，联合产业方核验需求与配套设施。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核验制氢来源、能耗、安全许可、运输及终端需求；不依赖补贴兜底。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形成订单核验表＋分阶段融资路线图。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E7F6FD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5664" y="2011680"/>
            <a:ext cx="490118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先场景、再资本、后债权</a:t>
            </a:r>
          </a:p>
        </p:txBody>
      </p:sp>
      <p:sp>
        <p:nvSpPr>
          <p:cNvPr id="102" name="Oval 101"/>
          <p:cNvSpPr/>
          <p:nvPr/>
        </p:nvSpPr>
        <p:spPr>
          <a:xfrm>
            <a:off x="6473952" y="2752344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73952" y="2825496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4304" y="2743200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场景核验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4304" y="3136391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付费主体、实际购氢/用氢量、价格和结算机制。</a:t>
            </a:r>
          </a:p>
        </p:txBody>
      </p:sp>
      <p:sp>
        <p:nvSpPr>
          <p:cNvPr id="106" name="Oval 105"/>
          <p:cNvSpPr/>
          <p:nvPr/>
        </p:nvSpPr>
        <p:spPr>
          <a:xfrm>
            <a:off x="6473952" y="3739896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73952" y="3813048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04304" y="3730752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资本接续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04304" y="4123944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股权资金承担技术与市场验证风险，按里程碑接续。</a:t>
            </a:r>
          </a:p>
        </p:txBody>
      </p:sp>
      <p:sp>
        <p:nvSpPr>
          <p:cNvPr id="110" name="Oval 109"/>
          <p:cNvSpPr/>
          <p:nvPr/>
        </p:nvSpPr>
        <p:spPr>
          <a:xfrm>
            <a:off x="6473952" y="4727448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73952" y="4800600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04304" y="4718304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债权条件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04304" y="5111496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有稳定合同、合规手续和偿债现金流后再评估。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煤化工与碳材料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焦化 × 现代煤化工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06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焦化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节能环保改造、产能整合与原料采购共同占用资金。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设备更新租赁＋技改银团；成熟主体常规债；转型金融工具逐项评估。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从合规在产企业改造切入，收集能耗基线、改造预算及客户订单。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核验产能置换、环保及能耗要求；不将全部焦化融资贴上绿色标签。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形成技改清单＋节能量/成本改善测算。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07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现代煤化工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大型装置建设周期长，试生产爬坡与煤价、化工品价格联动。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建设期项目银团；成熟主体MTN；设备租赁；整合项目评估并购融资。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优先手续齐全、资本金到位、有产品销售安排的在建或技改项目。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重点审查用水、能耗、环保及煤源；压力测试产品价差与达产率。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形成建设提款计划＋运营偿债双模型。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煤化工与碳材料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碳基新材料 × 废弃资源综合利用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08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碳基新材料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由煤基原料向高附加值材料延伸，研发、量产及客户验证节奏不同。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研发/中试：股权撮合；量产扩产：银团/租赁；合格主体探索科创债。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取得下游验证、采购订单及良率数据，再确定债权和股权融资比例。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不以集团信用替代项目论证；关注技术路线、价格与关联交易。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形成中试—量产资金里程碑表。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09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废弃资源综合利用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固废、再生资源项目需同时落实原料来源、处理收入及再生品销路。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合格绿色项目：绿色债/项目银团；设备租赁；存量主体常规融资。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从大地环境等既有线索核验具体项目，确认是否属于本赛道后建档。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核验经营许可、原料保供、环保与收费机制；关注应收账款拖欠。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形成原料—处理—销售三端合同清单。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先进材料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特钢材料 × 铝镁精深加工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10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特钢材料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高端产品替代、设备更新和订单交付形成资金需求。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成熟主体债券；设备租赁/银团；行业整合评估并购融资。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对现有钢铁客户核实特钢业务占比和产品认证，不以“钢铁”直接归类。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关注产能、能耗、订单集中度及原料价差；建设与流资用途分别核验。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形成产品/订单分层表＋融资用途表。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铝镁精深加工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轻量化材料扩产、加工设备更新及原材料采购占款。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设备租赁＋项目银团；成熟主体债券；产业资本撮合。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优先下游汽车、装备客户认证已完成且有订单的精深加工项目。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区分上游冶炼与加工环节；核验能耗、原料成本和核心客户回款。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形成订单覆盖率与金属价格压力测试。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先进材料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铜基新材料 × 合成生物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17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12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铜基新材料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高精铜材、铜箔等产线投资大，认证及良率影响现金流。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扩产银团＋设备租赁；符合条件主体科创债；中试阶段股权撮合。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核验产品规格、客户认证、良率和订单，优先成熟产线技改扩建。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关注铜价波动、加工费、库存占用与客户集中度；谨防重复扩产。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形成单位成本模型＋资金峰值测算。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13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合成生物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研发、中试、规模发酵存在明显阶段差异，商业化不确定性高。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前期产业基金/股权撮合；稳定量产后评估租赁、银团及科创债。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以菌种/工艺权属、试验数据和客户验证为起点，分阶段设融资门槛。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核验知识产权、生物安全及产品许可；不以估值替代偿债现金流。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形成技术里程碑＋资本接续计划。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先进材料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第三代半导体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18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第三代半导体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设备投入高，工艺良率、验证周期和技术迭代影响扩产回报。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中试股权撮合；量产设备租赁；成熟企业科创债或扩产银团。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优先已完成下游认证的碳化硅/氮化镓等项目，核实订单与产线能力。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核验设备可得性、知识产权、良率及资本金；开展技术专家评审。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形成认证—订单—设备三联核验表。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E7F6FD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5664" y="2011680"/>
            <a:ext cx="490118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客户、技术、资金三重核验</a:t>
            </a:r>
          </a:p>
        </p:txBody>
      </p:sp>
      <p:sp>
        <p:nvSpPr>
          <p:cNvPr id="102" name="Oval 101"/>
          <p:cNvSpPr/>
          <p:nvPr/>
        </p:nvSpPr>
        <p:spPr>
          <a:xfrm>
            <a:off x="6473952" y="2752344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73952" y="2825496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4304" y="2743200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客户验证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4304" y="3136391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不是只有意向书：核实认证进度、产品规格和可执行订单。</a:t>
            </a:r>
          </a:p>
        </p:txBody>
      </p:sp>
      <p:sp>
        <p:nvSpPr>
          <p:cNvPr id="106" name="Oval 105"/>
          <p:cNvSpPr/>
          <p:nvPr/>
        </p:nvSpPr>
        <p:spPr>
          <a:xfrm>
            <a:off x="6473952" y="3739896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73952" y="3813048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04304" y="3730752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技术验证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04304" y="4123944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引入适当专业判断，核实良率、设备保障与知识产权。</a:t>
            </a:r>
          </a:p>
        </p:txBody>
      </p:sp>
      <p:sp>
        <p:nvSpPr>
          <p:cNvPr id="110" name="Oval 109"/>
          <p:cNvSpPr/>
          <p:nvPr/>
        </p:nvSpPr>
        <p:spPr>
          <a:xfrm>
            <a:off x="6473952" y="4727448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73952" y="4800600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04304" y="4718304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资金验证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04304" y="5111496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资本金先落实；压力测试爬坡延迟、客户流失和价格下降。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装备制造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高端装备制造 × 风电装备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19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15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高端装备制造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大额订单交付周期长，研发、生产和验收回款存在时间差。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成熟主体债券；设备租赁/银团；并购融资及产业资本撮合。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以太重等存量授信客群为入口，排查债券合作空白和核心订单链。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核验合同履约、预付款使用、验收节点及应收回款；避免重复融资。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形成订单现金流表＋承销合作清单。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16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风电装备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整机及零部件产线扩建，交付验收和质保金占用资金。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产线租赁/银团；合格主体绿色或科创债；整合项目并购撮合。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围绕主机厂认证供应商，筛选有订单、已认证的零部件技改项目。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关注主机厂集中度、价格下行、质保责任及海外订单履约风险。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形成订单/质保金台账＋设备清单。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装备制造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新能源汽车 × 光伏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17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新能源汽车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整车及零部件技术迭代快，模具、产线与应收账款占款。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设备更新租赁；成熟扩产银团；早期股权撮合；合格主体科创债。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优先定点车型、客户认证及量产订单明确的项目，核对资金缺口。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关注车型生命周期、客户集中、价格竞争与回款周期；不泛化整车信用。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形成定点—量产—回款里程碑表。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18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光伏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设备技改与技术路线升级需求并存，制造与电站现金流差异大。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制造端设备租赁/成熟主体债券；合规电站项目银团及绿色融资。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先区分制造和电站用途，制造看订单/成本，电站看并网/消纳/电价。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关注产能过剩、存货减值、技术淘汰；不能将所有制造融资认定为绿色。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形成制造/电站双清单与差异化模型。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特优农业与医药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特优农业与食品 × 现代医药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21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19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特优农业与食品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季节采购、加工升级、冷链建设与渠道回款共同形成需求。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设备租赁/项目银团；成熟龙头债券；产业资本及渠道资源撮合。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优先订单可验证的加工、仓储冷链项目，核实原料基地与销售渠道。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关注食品安全、库存保质期、季节现金流及关联采购；仓单真实性核验。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形成收储加工销售现金流日历。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20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现代医药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研发注册、产能建设、商业推广与回款存在较长周期。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研发期股权撮合；已上市产品产线租赁/银团；合格主体科创债。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依据产品注册、临床/上市阶段分层，优先许可齐全且有销售的扩产项目。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核验药品许可、知识产权、集采影响、研发失败及商业合规风险。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形成产品阶段表＋销售/回款证据包。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数字经济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文旅康养 × 算力与数据要素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文旅康养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景区及康养设施更新、运营周转与淡旺季现金流差异显著。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成熟主体SCP/MTN；运营改造银团/租赁；资本及合作方撮合。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从山西文旅储备切入，核实注册反馈、发行计划及真实文旅/康养用途。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区分平台与项目现金流；核验资产权属、收费、入住率及季节性。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形成淡旺季偿债模型与产品排期表。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22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算力与数据要素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机房、算力设备更新快，机柜与算力租用合同决定收益。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设备租赁；有长期订单的项目银团；合格主体科创债；早期股权撮合。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优先真实客户、用电和算力服务合同明确的项目，核实客户及利用率。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核验数据合规、能耗、设备折旧、技术替代及租赁合同可执行性。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形成合同覆盖/利用率与折旧压力测试。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数字经济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信息技术融合应用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23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信息技术融合应用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软件研发、系统集成与项目验收回款不同步，轻资产抵押不足。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产业资本撮合；成熟主体科创债；已有稳定回款项目评估融资支持。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优先可验收、可收费、可持续续费的工业数字化及行业应用项目。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核验知识产权、真实采购与交付；关注回款、客户集中及数据安全。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形成项目验收/回款台账与融资分层表。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E7F6FD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455664" y="2011680"/>
            <a:ext cx="4901184" cy="4663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9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以交付验收与回款检验商业模式</a:t>
            </a:r>
          </a:p>
        </p:txBody>
      </p:sp>
      <p:sp>
        <p:nvSpPr>
          <p:cNvPr id="102" name="Oval 101"/>
          <p:cNvSpPr/>
          <p:nvPr/>
        </p:nvSpPr>
        <p:spPr>
          <a:xfrm>
            <a:off x="6473952" y="2752344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473952" y="2825496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1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7004304" y="2743200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识别收入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7004304" y="3136391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区分一次性集成收入、持续服务与可续费收入。</a:t>
            </a:r>
          </a:p>
        </p:txBody>
      </p:sp>
      <p:sp>
        <p:nvSpPr>
          <p:cNvPr id="106" name="Oval 105"/>
          <p:cNvSpPr/>
          <p:nvPr/>
        </p:nvSpPr>
        <p:spPr>
          <a:xfrm>
            <a:off x="6473952" y="3739896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73952" y="3813048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7004304" y="3730752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验证回款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7004304" y="4123944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合同、交付、验收和付款依据对应，排查虚构循环交易。</a:t>
            </a:r>
          </a:p>
        </p:txBody>
      </p:sp>
      <p:sp>
        <p:nvSpPr>
          <p:cNvPr id="110" name="Oval 109"/>
          <p:cNvSpPr/>
          <p:nvPr/>
        </p:nvSpPr>
        <p:spPr>
          <a:xfrm>
            <a:off x="6473952" y="4727448"/>
            <a:ext cx="338328" cy="338328"/>
          </a:xfrm>
          <a:prstGeom prst="ellipse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6473952" y="4800600"/>
            <a:ext cx="338328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3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004304" y="4718304"/>
            <a:ext cx="4197096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匹配期限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7004304" y="5111496"/>
            <a:ext cx="4142232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不以短期回款假设覆盖长期研发投入，股债按阶段匹配。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逐链支撑  /  绿色建筑 / 未来产业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装配式建筑 × 低空经济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需求牵引、阶段匹配：明确首笔切入动作、准入条件与可验收交付物。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赛道来源：用户图表；需求、产品与动作：本稿建议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066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24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930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装配式建筑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7724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7724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137160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构件工厂设备更新、工程订单履约与结算账期带来资金压力。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7724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37160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设备租赁/项目银团；成熟主体债券；合规应收资产证券化路径评估。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77724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37160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从已获订单的构件厂及承包商切入，穿透项目、发包方和最终付款人。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77724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137160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核验订单、验收及应收确权；绿色认定逐项核查，排查隐性债务风险。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7724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137160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形成订单履约与应收确权清单。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6240780" y="1842516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ounded Rectangle 100"/>
          <p:cNvSpPr/>
          <p:nvPr/>
        </p:nvSpPr>
        <p:spPr>
          <a:xfrm>
            <a:off x="6217920" y="1810512"/>
            <a:ext cx="5376672" cy="437083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6364224" y="1956816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6364224" y="2034540"/>
            <a:ext cx="393192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05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25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6912864" y="1965960"/>
            <a:ext cx="4507992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低空经济</a:t>
            </a:r>
          </a:p>
        </p:txBody>
      </p:sp>
      <p:cxnSp>
        <p:nvCxnSpPr>
          <p:cNvPr id="105" name="Connector 104"/>
          <p:cNvCxnSpPr/>
          <p:nvPr/>
        </p:nvCxnSpPr>
        <p:spPr>
          <a:xfrm>
            <a:off x="6400800" y="2468880"/>
            <a:ext cx="5010912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6" name="TextBox 105"/>
          <p:cNvSpPr txBox="1"/>
          <p:nvPr/>
        </p:nvSpPr>
        <p:spPr>
          <a:xfrm>
            <a:off x="6400800" y="262432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需求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995160" y="2615184"/>
            <a:ext cx="4398264" cy="58521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研发试飞、设备购置及场景运营分阶段投入，商业模式尚在验证。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6400800" y="320954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产品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6995160" y="3200400"/>
            <a:ext cx="4398264" cy="6949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前期股权/产业资本撮合；有稳定付费订单的设备租赁；成熟项目再评估债权。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6400800" y="3904487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切入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6995160" y="3895344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优先已有合规许可及真实付费合同的物流、巡检等场景，小额分阶段试点。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6400800" y="4654296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风控</a:t>
            </a:r>
          </a:p>
        </p:txBody>
      </p:sp>
      <p:sp>
        <p:nvSpPr>
          <p:cNvPr id="113" name="TextBox 112"/>
          <p:cNvSpPr txBox="1"/>
          <p:nvPr/>
        </p:nvSpPr>
        <p:spPr>
          <a:xfrm>
            <a:off x="6995160" y="4645152"/>
            <a:ext cx="4398264" cy="74980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核验空域/运行许可、适航适用要求、保险及付费主体；不以规划替代订单。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6400800" y="5404104"/>
            <a:ext cx="4389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6995160" y="5394960"/>
            <a:ext cx="4398264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6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形成场景许可核验包＋阶段退出条件。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首批示范  /  来自附件三的线索，不新增虚构客户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用存量客户做首轮试点，先核状态再排落地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客户主体跨多赛道时，按具体业务用途映射；不得把集团业务整笔重复计入各赛道。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25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2798064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257860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线索客户 / 主办机构</a:t>
            </a:r>
          </a:p>
        </p:txBody>
      </p:sp>
      <p:sp>
        <p:nvSpPr>
          <p:cNvPr id="86" name="Rectangle 85"/>
          <p:cNvSpPr/>
          <p:nvPr/>
        </p:nvSpPr>
        <p:spPr>
          <a:xfrm>
            <a:off x="3392424" y="1828800"/>
            <a:ext cx="338328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502152" y="1924812"/>
            <a:ext cx="316382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附件三储备/问题</a:t>
            </a:r>
          </a:p>
        </p:txBody>
      </p:sp>
      <p:sp>
        <p:nvSpPr>
          <p:cNvPr id="88" name="Rectangle 87"/>
          <p:cNvSpPr/>
          <p:nvPr/>
        </p:nvSpPr>
        <p:spPr>
          <a:xfrm>
            <a:off x="6775704" y="1828800"/>
            <a:ext cx="4809744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6885432" y="1924812"/>
            <a:ext cx="459028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首轮动作与赛道映射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279806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潞安矿业 / 长治分行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392424" y="2249424"/>
            <a:ext cx="33832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502152" y="2359152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MTN储备5亿元，原状态为沟通排期</a:t>
            </a:r>
          </a:p>
        </p:txBody>
      </p:sp>
      <p:sp>
        <p:nvSpPr>
          <p:cNvPr id="94" name="Rectangle 93"/>
          <p:cNvSpPr/>
          <p:nvPr/>
        </p:nvSpPr>
        <p:spPr>
          <a:xfrm>
            <a:off x="6775704" y="2249424"/>
            <a:ext cx="480974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6885432" y="2359152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核注册有效期、用途及窗口；优先核验煤炭保供需求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798064"/>
            <a:ext cx="279806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2907792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晋控煤业 / 大同分行</a:t>
            </a:r>
          </a:p>
        </p:txBody>
      </p:sp>
      <p:sp>
        <p:nvSpPr>
          <p:cNvPr id="98" name="Rectangle 97"/>
          <p:cNvSpPr/>
          <p:nvPr/>
        </p:nvSpPr>
        <p:spPr>
          <a:xfrm>
            <a:off x="3392424" y="2798064"/>
            <a:ext cx="3383280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502152" y="2907792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MTN储备5亿元，原状态为沟通排期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775704" y="2798064"/>
            <a:ext cx="480974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6885432" y="2907792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核投资人及发行方案；煤炭相关用途逐项确认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346704"/>
            <a:ext cx="279806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456432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山西文旅 / 龙城支行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3392424" y="3346704"/>
            <a:ext cx="33832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502152" y="3456432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SCP储备5亿元，原状态为注册审核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775704" y="3346704"/>
            <a:ext cx="480974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885432" y="3456432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更新反馈、融资期限与季节现金流；文旅康养候选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3895344"/>
            <a:ext cx="279806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005072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太重集团 / 长风支行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3392424" y="3895344"/>
            <a:ext cx="3383280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502152" y="4005072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有授信无承销；银团线索未落地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6775704" y="3895344"/>
            <a:ext cx="480974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6885432" y="4005072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联合回访核发行/订单/扩产需求；高端装备候选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443983"/>
            <a:ext cx="279806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553712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大地环境 / 迎泽支行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3392424" y="4443983"/>
            <a:ext cx="3383280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502152" y="4553712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流资银团3亿元，原状态为已批待放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6775704" y="4443983"/>
            <a:ext cx="480974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6885432" y="4553712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核批复及提款条件；具体项目再判断是否属资源利用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4360" y="4992623"/>
            <a:ext cx="279806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4088" y="5102351"/>
            <a:ext cx="257860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山西建龙 / 幸福里支行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3392424" y="4992623"/>
            <a:ext cx="3383280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502152" y="5102351"/>
            <a:ext cx="3163824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流资银团3亿元，原状态为风险审批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6775704" y="4992623"/>
            <a:ext cx="480974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6885432" y="5102351"/>
            <a:ext cx="459028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复核审批与客户需求；特钢归属须核产品及用途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40080" y="5769864"/>
            <a:ext cx="10954512" cy="3291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8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提示：附件三债承储备表列合计37亿元，其中华阳单项为5—6亿元；本稿不重算其口径或视作已落地。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客户经营  /  示例框架，非客户已确认方案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一户一策示例：成熟煤炭发行人的双路径方案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参考潞安矿业等材料线索演示：先确认到期债务、用途及偿债来源，再组合产品。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26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06524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74519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2029967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2107691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0" y="205740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先问清四件事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5528" y="2624327"/>
            <a:ext cx="3108960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04672" y="2788920"/>
            <a:ext cx="3090672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① 何时用款、需要多久？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② 偿还到期债还是建设改造？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③ 经营回款与偿债压力如何？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④ 承销、投资、授信各有何条件？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66260" y="1906524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43400" y="1874519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489704" y="2029967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8848" y="2107691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0" y="205740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主路径与备选路径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44568" y="2624327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53712" y="2788920"/>
            <a:ext cx="3090672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主路径：具备条件时按注册/发行窗口推进常规债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备选：适合的真实项目按条件评估银团或设备租赁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两条路径分别测算成本与时点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15300" y="1906524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092440" y="1874519"/>
            <a:ext cx="3511296" cy="3529584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238744" y="2029967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47888" y="2107691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78240" y="2057400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一页方案要写清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293608" y="2624327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302752" y="2788920"/>
            <a:ext cx="3090672" cy="2505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需求金额与期限、用途证据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客户授权、审批和资金端安排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综合收益及客户成本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下一节点、责任人、截止日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未满足条件及退出/替代安排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投资与承销独立合规决策；不承诺包销、低价投资或通过变相绑定获客。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组织配套  /  按现有人力兼岗分片，不预设新增编制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一项目一主办，投行前置支持，全行协同闭环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建议由分管领导统筹重点项目，投行部维护赛道项目库及跨条线协调事项。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27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2359152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213969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角色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53512" y="1828800"/>
            <a:ext cx="5404104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3063240" y="1924812"/>
            <a:ext cx="5184648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必须承担的责任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357616" y="1828800"/>
            <a:ext cx="3227832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67344" y="1924812"/>
            <a:ext cx="3008376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交付与频次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235915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经营机构（客户主办）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953512" y="2249424"/>
            <a:ext cx="540410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063240" y="2359152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客户关系、真实需求、资料收集、跟进拜访及提款/发行沟通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357616" y="2249424"/>
            <a:ext cx="322783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67344" y="2359152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每户一名客户经理；每周更新项目卡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798064"/>
            <a:ext cx="235915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2907792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投行部（产品牵头）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953512" y="2798064"/>
            <a:ext cx="540410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3063240" y="2907792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按赛道分片；产品匹配、方案、资金端协调、陪访与存续衔接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357616" y="2798064"/>
            <a:ext cx="322783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67344" y="2907792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每项目一名产品经理；双周会诊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346704"/>
            <a:ext cx="235915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456432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公司条线（协同牵引）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953512" y="3346704"/>
            <a:ext cx="540410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3063240" y="3456432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链主/园区/项目储备共享；从储备阶段嵌入银团识别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357616" y="3346704"/>
            <a:ext cx="322783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67344" y="3456432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共享储备与已批未放清单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3895344"/>
            <a:ext cx="235915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005072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风险/合规及相关审批条线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953512" y="3895344"/>
            <a:ext cx="540410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3063240" y="4005072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独立审查准入、结构、用途、授权和合规边界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357616" y="3895344"/>
            <a:ext cx="322783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67344" y="4005072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按职责出具意见；问题及条件清单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443983"/>
            <a:ext cx="235915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553712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金融市场/相关资金业务条线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953512" y="4443983"/>
            <a:ext cx="5404104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3063240" y="4553712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按本行职责与资质独立判断投资、资金和产品协作事项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357616" y="4443983"/>
            <a:ext cx="3227832" cy="54864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67344" y="4553712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资金端意向及约束，不代替审批</a:t>
            </a:r>
          </a:p>
        </p:txBody>
      </p:sp>
      <p:sp>
        <p:nvSpPr>
          <p:cNvPr id="120" name="Rectangle 119"/>
          <p:cNvSpPr/>
          <p:nvPr/>
        </p:nvSpPr>
        <p:spPr>
          <a:xfrm>
            <a:off x="594360" y="4992623"/>
            <a:ext cx="235915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704088" y="5102351"/>
            <a:ext cx="213969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分管领导/重点项目协调机制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2953512" y="4992623"/>
            <a:ext cx="5404104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3063240" y="5102351"/>
            <a:ext cx="5184648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解决跨机构归属、重大资源申请及跨条线堵点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8357616" y="4992623"/>
            <a:ext cx="3227832" cy="54864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TextBox 124"/>
          <p:cNvSpPr txBox="1"/>
          <p:nvPr/>
        </p:nvSpPr>
        <p:spPr>
          <a:xfrm>
            <a:off x="8467344" y="5102351"/>
            <a:ext cx="3008376" cy="39319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1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月度复盘；重大风险即时升级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658368" y="5742432"/>
            <a:ext cx="10881360" cy="3383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客户划转执行“客户＋业务＋存续项目”同步交接，原主办与新主办共同确认待办事项。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过程管理  /  建议响应时限，不替代审批及外部办理周期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五个关口管理项目，成熟一项推进一项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S0线索 → S1有效需求 → S2正式方案 → S3审批/资金条件 → S4落地及存续。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28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210312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88366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关口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697479" y="1828800"/>
            <a:ext cx="559612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807208" y="1924812"/>
            <a:ext cx="537667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进入下一阶段的证据</a:t>
            </a:r>
          </a:p>
        </p:txBody>
      </p:sp>
      <p:sp>
        <p:nvSpPr>
          <p:cNvPr id="88" name="Rectangle 87"/>
          <p:cNvSpPr/>
          <p:nvPr/>
        </p:nvSpPr>
        <p:spPr>
          <a:xfrm>
            <a:off x="8293608" y="1828800"/>
            <a:ext cx="329184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403336" y="1924812"/>
            <a:ext cx="307238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责任与建议时点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2103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1883663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S0 → S1  识别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697479" y="2249424"/>
            <a:ext cx="55961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807208" y="2359152"/>
            <a:ext cx="537667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客户同意对接，需求金额/期限/用途明确，主办确定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293608" y="2249424"/>
            <a:ext cx="3291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403336" y="2359152"/>
            <a:ext cx="3072384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经营机构：线索录入后5个工作日内初筛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889504"/>
            <a:ext cx="2103120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2999232"/>
            <a:ext cx="1883663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S1 → S2  设计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697479" y="2889504"/>
            <a:ext cx="5596128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807208" y="2999232"/>
            <a:ext cx="537667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基本资料完整，准入初筛通过，形成主/备方案和费用边界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8293608" y="2889504"/>
            <a:ext cx="3291840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403336" y="2999232"/>
            <a:ext cx="3072384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投行＋经营机构：资料齐后10个工作日内初案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529584"/>
            <a:ext cx="2103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639312"/>
            <a:ext cx="1883663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S2 → S3  落实条件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697479" y="3529584"/>
            <a:ext cx="55961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807208" y="3639312"/>
            <a:ext cx="537667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客户确认方案，注册/授信等流程及合格资金方意向明确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8293608" y="3529584"/>
            <a:ext cx="3291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8403336" y="3639312"/>
            <a:ext cx="3072384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主办条线：依实际流程倒排，不承诺审批期限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169664"/>
            <a:ext cx="2103120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279392"/>
            <a:ext cx="1883663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S3 → S4  交易交付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697479" y="4169664"/>
            <a:ext cx="5596128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807208" y="4279392"/>
            <a:ext cx="537667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批复、发行/提款/出资条件满足，协议及真实资金流证据齐备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8293608" y="4169664"/>
            <a:ext cx="3291840" cy="640080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8403336" y="4279392"/>
            <a:ext cx="3072384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主办机构＋投行：按合同节点核实落地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809744"/>
            <a:ext cx="210312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919472"/>
            <a:ext cx="1883663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S4 → 存续  持续经营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697479" y="4809744"/>
            <a:ext cx="5596128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807208" y="4919472"/>
            <a:ext cx="5376672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用途、还本付息/回款、服务收费与后续机会可追踪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8293608" y="4809744"/>
            <a:ext cx="3291840" cy="640080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8403336" y="4919472"/>
            <a:ext cx="3072384" cy="48463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7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依业务职责完成存续管理，风险事项即时上报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每个项目写明“下一步动作＋完成日期＋责任人＋所需资源”，不以拜访次数替代进展。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过程监督  /  周跟进、双周会诊、月度督导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用可追踪的看板督导，用真实交易验收成效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投行部维护单一台账；每项目唯一编号，保留口径、证据和更新时间。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29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15668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83664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2039112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211683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0" y="206654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看板字段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5528" y="2633472"/>
            <a:ext cx="3108960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04672" y="2798064"/>
            <a:ext cx="3090672" cy="2569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赛道/客户/地市/园区/具体用途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主办机构与产品经理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产品、规模与本行实际份额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S0—S4阶段、下一节点及日期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审批/资金端/客户三类堵点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风险预警、回款及存续事项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66260" y="1915668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43400" y="1883664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489704" y="2039112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8848" y="211683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0" y="206654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红黄绿规则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44568" y="2633472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53712" y="2798064"/>
            <a:ext cx="3090672" cy="2569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绿：节点按计划、条件可落实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黄：关键节点逾期5个工作日，或关键条件出现不确定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红：逾期10个工作日或重大风险；立即复核方案/升级协调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15300" y="1915668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092440" y="1883664"/>
            <a:ext cx="3511296" cy="35935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238744" y="2039112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47888" y="2116836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78240" y="2066544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监督动作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293608" y="2633472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302752" y="2798064"/>
            <a:ext cx="3090672" cy="2569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周：核证据、列下周动作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双周：疑难会诊、定资源事项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月：复盘转化、收入与客户反馈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停滞无解：降级、退出或换方案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40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重大风险不等待例会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逾期按责任区分：内部待办督办，外部审批/市场窗口重排，风险问题按制度处理。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推进节奏  /  自方案获批启动日起计算，非对历史四季度的重新预测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90天先完成首轮闭环，再复制成熟方案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以项目成熟度定落地目标，不将审批、发行或市场时点视为可保证结果。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30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1874519"/>
            <a:ext cx="2560320" cy="3639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874519"/>
            <a:ext cx="2560320" cy="448056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04088" y="199339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第1—15天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758952" y="2560320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建库与校准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758952" y="3108960"/>
            <a:ext cx="22311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25条赛道明确接口人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核9月末数据与储备状态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完成存量/已批未放初筛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58952" y="4727448"/>
            <a:ext cx="2231136" cy="0"/>
          </a:xfrm>
          <a:prstGeom prst="line">
            <a:avLst/>
          </a:prstGeom>
          <a:ln w="1016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58952" y="4919472"/>
            <a:ext cx="2231136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交付：责任矩阵＋首批清单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3410712" y="1874519"/>
            <a:ext cx="2560320" cy="3639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3410712" y="1874519"/>
            <a:ext cx="2560320" cy="448056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520440" y="199339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第16—30天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575304" y="2560320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陪访与定策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575304" y="3108960"/>
            <a:ext cx="22311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联合拜访首批重点客户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形成一户一策及政策核验表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提交资源申请与会诊问题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3575304" y="4727448"/>
            <a:ext cx="2231136" cy="0"/>
          </a:xfrm>
          <a:prstGeom prst="line">
            <a:avLst/>
          </a:prstGeom>
          <a:ln w="1016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3575304" y="4919472"/>
            <a:ext cx="2231136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交付：客户确认方案＋申请包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6227064" y="1874519"/>
            <a:ext cx="2560320" cy="3639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6227064" y="1874519"/>
            <a:ext cx="2560320" cy="448056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336792" y="199339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第31—60天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6391656" y="2560320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落实关键条件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6391656" y="3108960"/>
            <a:ext cx="22311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推进注册/授信/资金方对接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跟踪发行、参贷及租赁意向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按成熟条件组织交易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6391656" y="4727448"/>
            <a:ext cx="2231136" cy="0"/>
          </a:xfrm>
          <a:prstGeom prst="line">
            <a:avLst/>
          </a:prstGeom>
          <a:ln w="1016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6391656" y="4919472"/>
            <a:ext cx="2231136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交付：审批/资金/合同条件清单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9043416" y="1874519"/>
            <a:ext cx="2560320" cy="36393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9043416" y="1874519"/>
            <a:ext cx="2560320" cy="448056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9153144" y="1993392"/>
            <a:ext cx="2340864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5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第61—90天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9208008" y="2560320"/>
            <a:ext cx="2231136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验收与复制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208008" y="3108960"/>
            <a:ext cx="2231136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核验实际发行/提款/出资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核服务收费及客户反馈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3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复盘失败原因和可复制样板</a:t>
            </a:r>
          </a:p>
        </p:txBody>
      </p:sp>
      <p:cxnSp>
        <p:nvCxnSpPr>
          <p:cNvPr id="110" name="Connector 109"/>
          <p:cNvCxnSpPr/>
          <p:nvPr/>
        </p:nvCxnSpPr>
        <p:spPr>
          <a:xfrm>
            <a:off x="9208008" y="4727448"/>
            <a:ext cx="2231136" cy="0"/>
          </a:xfrm>
          <a:prstGeom prst="line">
            <a:avLst/>
          </a:prstGeom>
          <a:ln w="1016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1" name="TextBox 110"/>
          <p:cNvSpPr txBox="1"/>
          <p:nvPr/>
        </p:nvSpPr>
        <p:spPr>
          <a:xfrm>
            <a:off x="9208008" y="4919472"/>
            <a:ext cx="2231136" cy="4480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00" b="1">
                <a:solidFill>
                  <a:srgbClr val="B88322"/>
                </a:solidFill>
                <a:latin typeface="Noto Sans CJK SC"/>
              </a:defRPr>
            </a:pPr>
            <a:r>
              <a:rPr>
                <a:ea typeface="Noto Sans CJK SC"/>
              </a:rPr>
              <a:t>交付：落地证据＋下一轮储备</a:t>
            </a:r>
          </a:p>
        </p:txBody>
      </p:sp>
      <p:sp>
        <p:nvSpPr>
          <p:cNvPr id="112" name="Rounded Rectangle 111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Rounded Rectangle 112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周台账贯穿90天；形成样板后按客户需求复制，不把模板机械复制为审批结论。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目标与评价  /  建议目标待分行审定，不等同下达任务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过程有覆盖，结果有转化，规模与收益均可核验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沿用原任务作基线；赛道专属结果按业务用途及实际本行份额单独统计。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31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94360" y="1828800"/>
            <a:ext cx="1572768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704088" y="1924812"/>
            <a:ext cx="1353312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评价层次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67128" y="1828800"/>
            <a:ext cx="525780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2276856" y="1924812"/>
            <a:ext cx="5038344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建议指标及口径</a:t>
            </a:r>
          </a:p>
        </p:txBody>
      </p:sp>
      <p:sp>
        <p:nvSpPr>
          <p:cNvPr id="88" name="Rectangle 87"/>
          <p:cNvSpPr/>
          <p:nvPr/>
        </p:nvSpPr>
        <p:spPr>
          <a:xfrm>
            <a:off x="7424928" y="1828800"/>
            <a:ext cx="4160520" cy="420624"/>
          </a:xfrm>
          <a:prstGeom prst="rect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7534656" y="1924812"/>
            <a:ext cx="3941063" cy="23774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首轮/中期建议</a:t>
            </a:r>
          </a:p>
        </p:txBody>
      </p:sp>
      <p:sp>
        <p:nvSpPr>
          <p:cNvPr id="90" name="Rectangle 89"/>
          <p:cNvSpPr/>
          <p:nvPr/>
        </p:nvSpPr>
        <p:spPr>
          <a:xfrm>
            <a:off x="594360" y="2249424"/>
            <a:ext cx="15727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704088" y="2359152"/>
            <a:ext cx="1353312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赛道覆盖</a:t>
            </a:r>
          </a:p>
        </p:txBody>
      </p:sp>
      <p:sp>
        <p:nvSpPr>
          <p:cNvPr id="92" name="Rectangle 91"/>
          <p:cNvSpPr/>
          <p:nvPr/>
        </p:nvSpPr>
        <p:spPr>
          <a:xfrm>
            <a:off x="2167128" y="2249424"/>
            <a:ext cx="5257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2276856" y="2359152"/>
            <a:ext cx="503834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已建有效清单的赛道数 ÷ 25；空白赛道说明原因</a:t>
            </a:r>
          </a:p>
        </p:txBody>
      </p:sp>
      <p:sp>
        <p:nvSpPr>
          <p:cNvPr id="94" name="Rectangle 93"/>
          <p:cNvSpPr/>
          <p:nvPr/>
        </p:nvSpPr>
        <p:spPr>
          <a:xfrm>
            <a:off x="7424928" y="2249424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7534656" y="2359152"/>
            <a:ext cx="3941063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90天完成25条初筛与责任落位，记录可推进程度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4360" y="2907791"/>
            <a:ext cx="1572768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04088" y="3017520"/>
            <a:ext cx="1353312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方案质量</a:t>
            </a:r>
          </a:p>
        </p:txBody>
      </p:sp>
      <p:sp>
        <p:nvSpPr>
          <p:cNvPr id="98" name="Rectangle 97"/>
          <p:cNvSpPr/>
          <p:nvPr/>
        </p:nvSpPr>
        <p:spPr>
          <a:xfrm>
            <a:off x="2167128" y="2907791"/>
            <a:ext cx="5257800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2276856" y="3017520"/>
            <a:ext cx="503834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资料完整、客户确认且有下一节点的正式方案数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424928" y="2907791"/>
            <a:ext cx="4160520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534656" y="3017520"/>
            <a:ext cx="3941063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首轮建议≥10份，按有效需求调整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594360" y="3566159"/>
            <a:ext cx="15727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704088" y="3675887"/>
            <a:ext cx="1353312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项目转化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2167128" y="3566159"/>
            <a:ext cx="5257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2276856" y="3675887"/>
            <a:ext cx="503834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S4落地项目 ÷ 正式方案；发行/提款/出资分别认定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7424928" y="3566159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7534656" y="3675887"/>
            <a:ext cx="3941063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首轮争取≥3个示范项目，不预先承诺规模</a:t>
            </a:r>
          </a:p>
        </p:txBody>
      </p:sp>
      <p:sp>
        <p:nvSpPr>
          <p:cNvPr id="108" name="Rectangle 107"/>
          <p:cNvSpPr/>
          <p:nvPr/>
        </p:nvSpPr>
        <p:spPr>
          <a:xfrm>
            <a:off x="594360" y="4224527"/>
            <a:ext cx="1572768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04088" y="4334255"/>
            <a:ext cx="1353312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贡献与回款</a:t>
            </a:r>
          </a:p>
        </p:txBody>
      </p:sp>
      <p:sp>
        <p:nvSpPr>
          <p:cNvPr id="110" name="Rectangle 109"/>
          <p:cNvSpPr/>
          <p:nvPr/>
        </p:nvSpPr>
        <p:spPr>
          <a:xfrm>
            <a:off x="2167128" y="4224527"/>
            <a:ext cx="5257800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2276856" y="4334255"/>
            <a:ext cx="503834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承销份额、银团实际投放/流转、撮合对接及收费分别核验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7424928" y="4224527"/>
            <a:ext cx="4160520" cy="658368"/>
          </a:xfrm>
          <a:prstGeom prst="rect">
            <a:avLst/>
          </a:prstGeom>
          <a:solidFill>
            <a:srgbClr val="EDF7FC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7534656" y="4334255"/>
            <a:ext cx="3941063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理财按月日均；收入按财务确认及实际回款统计</a:t>
            </a:r>
          </a:p>
        </p:txBody>
      </p:sp>
      <p:sp>
        <p:nvSpPr>
          <p:cNvPr id="114" name="Rectangle 113"/>
          <p:cNvSpPr/>
          <p:nvPr/>
        </p:nvSpPr>
        <p:spPr>
          <a:xfrm>
            <a:off x="594360" y="4882895"/>
            <a:ext cx="1572768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704088" y="4992623"/>
            <a:ext cx="1353312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中期能力建设</a:t>
            </a:r>
          </a:p>
        </p:txBody>
      </p:sp>
      <p:sp>
        <p:nvSpPr>
          <p:cNvPr id="116" name="Rectangle 115"/>
          <p:cNvSpPr/>
          <p:nvPr/>
        </p:nvSpPr>
        <p:spPr>
          <a:xfrm>
            <a:off x="2167128" y="4882895"/>
            <a:ext cx="525780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2276856" y="4992623"/>
            <a:ext cx="5038344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附件三提出收费撮合3—5笔/年、增收50—100万元；两年银团10亿元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7424928" y="4882895"/>
            <a:ext cx="4160520" cy="658368"/>
          </a:xfrm>
          <a:prstGeom prst="rect">
            <a:avLst/>
          </a:prstGeom>
          <a:solidFill>
            <a:srgbClr val="FFFFFF"/>
          </a:solidFill>
          <a:ln w="10160">
            <a:solidFill>
              <a:srgbClr val="D5E8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TextBox 118"/>
          <p:cNvSpPr txBox="1"/>
          <p:nvPr/>
        </p:nvSpPr>
        <p:spPr>
          <a:xfrm>
            <a:off x="7534656" y="4992623"/>
            <a:ext cx="3941063" cy="50291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3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作为原中期方向，按资源与项目重审，不与90天指标混用</a:t>
            </a:r>
          </a:p>
        </p:txBody>
      </p:sp>
      <p:sp>
        <p:nvSpPr>
          <p:cNvPr id="120" name="Rounded Rectangle 119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Rounded Rectangle 120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23" name="TextBox 122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同一客户可多产品服务，但业务规模、撮合规模、承销份额与中收不得混算或重复累计。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风险边界  /  轻型转型以可持续收益和可控风险为前提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六条底线贯穿赛道选择、交易落地和存续管理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产业机会是营销起点，真实用途与偿债能力是交易基础。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32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1865376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ectangle 84"/>
          <p:cNvSpPr/>
          <p:nvPr/>
        </p:nvSpPr>
        <p:spPr>
          <a:xfrm>
            <a:off x="731520" y="2029968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905256" y="2011680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按真实条件审查准入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905256" y="2423160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核实主体、手续、资金用途和偿债来源；不因入园/入链自动授信。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6217920" y="1865376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Rectangle 88"/>
          <p:cNvSpPr/>
          <p:nvPr/>
        </p:nvSpPr>
        <p:spPr>
          <a:xfrm>
            <a:off x="6355080" y="2029968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6528816" y="2011680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以证据确认工具适配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6528816" y="2423160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绿色、科创等逐项核验，不夸大认证或政策适用范围。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594360" y="3108960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Rectangle 92"/>
          <p:cNvSpPr/>
          <p:nvPr/>
        </p:nvSpPr>
        <p:spPr>
          <a:xfrm>
            <a:off x="731520" y="3273552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905256" y="3255264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在资质范围内组织撮合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905256" y="3666744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通过合格机构开展业务，明确收费、信息授权和服务边界。</a:t>
            </a:r>
          </a:p>
        </p:txBody>
      </p:sp>
      <p:sp>
        <p:nvSpPr>
          <p:cNvPr id="96" name="Rounded Rectangle 95"/>
          <p:cNvSpPr/>
          <p:nvPr/>
        </p:nvSpPr>
        <p:spPr>
          <a:xfrm>
            <a:off x="6217920" y="3108960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Rectangle 96"/>
          <p:cNvSpPr/>
          <p:nvPr/>
        </p:nvSpPr>
        <p:spPr>
          <a:xfrm>
            <a:off x="6355080" y="3273552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6528816" y="3255264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独立评估可续期工具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6528816" y="3666744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条款、会计分类和投资风险分别评估，不承诺自动权益认定。</a:t>
            </a:r>
          </a:p>
        </p:txBody>
      </p:sp>
      <p:sp>
        <p:nvSpPr>
          <p:cNvPr id="100" name="Rounded Rectangle 99"/>
          <p:cNvSpPr/>
          <p:nvPr/>
        </p:nvSpPr>
        <p:spPr>
          <a:xfrm>
            <a:off x="594360" y="4352544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Rectangle 100"/>
          <p:cNvSpPr/>
          <p:nvPr/>
        </p:nvSpPr>
        <p:spPr>
          <a:xfrm>
            <a:off x="731520" y="4517136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905256" y="4498848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做好资金分层与适当性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905256" y="4910328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核验客户准入与国资管理约束，风险揭示、期限及适当性匹配。</a:t>
            </a:r>
          </a:p>
        </p:txBody>
      </p:sp>
      <p:sp>
        <p:nvSpPr>
          <p:cNvPr id="104" name="Rounded Rectangle 103"/>
          <p:cNvSpPr/>
          <p:nvPr/>
        </p:nvSpPr>
        <p:spPr>
          <a:xfrm>
            <a:off x="6217920" y="4352544"/>
            <a:ext cx="5376672" cy="108813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Rectangle 104"/>
          <p:cNvSpPr/>
          <p:nvPr/>
        </p:nvSpPr>
        <p:spPr>
          <a:xfrm>
            <a:off x="6355080" y="4517136"/>
            <a:ext cx="45720" cy="658368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6528816" y="4498848"/>
            <a:ext cx="4800600" cy="28346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6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落实交易后存续责任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6528816" y="4910328"/>
            <a:ext cx="47091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跟踪用途、披露、还本付息及异常事项，依制度分工履责。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落实保障  /  将讨论结论转化为责任、资源和节奏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建议审定三项安排，启动首轮赛道赋能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当前可先启动名单核实与联合拜访；涉及新增授权、预算及考核的事项审批后实施。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依据：附件三；方案内容为建议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33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617220" y="1933956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Rounded Rectangle 84"/>
          <p:cNvSpPr/>
          <p:nvPr/>
        </p:nvSpPr>
        <p:spPr>
          <a:xfrm>
            <a:off x="594360" y="1901952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740664" y="2057400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749808" y="2135124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01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280160" y="20848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审定组织与清单</a:t>
            </a:r>
          </a:p>
        </p:txBody>
      </p:sp>
      <p:cxnSp>
        <p:nvCxnSpPr>
          <p:cNvPr id="89" name="Connector 88"/>
          <p:cNvCxnSpPr/>
          <p:nvPr/>
        </p:nvCxnSpPr>
        <p:spPr>
          <a:xfrm>
            <a:off x="795528" y="2651760"/>
            <a:ext cx="3108960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804672" y="2816352"/>
            <a:ext cx="3090672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投行牵头分片、机构客户主办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25条赛道责任表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首批示范客户清单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统一台账与客户交接规则</a:t>
            </a:r>
          </a:p>
        </p:txBody>
      </p:sp>
      <p:sp>
        <p:nvSpPr>
          <p:cNvPr id="91" name="Rounded Rectangle 90"/>
          <p:cNvSpPr/>
          <p:nvPr/>
        </p:nvSpPr>
        <p:spPr>
          <a:xfrm>
            <a:off x="4366260" y="1933956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Rounded Rectangle 91"/>
          <p:cNvSpPr/>
          <p:nvPr/>
        </p:nvSpPr>
        <p:spPr>
          <a:xfrm>
            <a:off x="4343400" y="1901952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489704" y="2057400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4498848" y="2135124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02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5029200" y="20848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审定支持与边界</a:t>
            </a:r>
          </a:p>
        </p:txBody>
      </p:sp>
      <p:cxnSp>
        <p:nvCxnSpPr>
          <p:cNvPr id="96" name="Connector 95"/>
          <p:cNvCxnSpPr/>
          <p:nvPr/>
        </p:nvCxnSpPr>
        <p:spPr>
          <a:xfrm>
            <a:off x="4544568" y="2651760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7" name="TextBox 96"/>
          <p:cNvSpPr txBox="1"/>
          <p:nvPr/>
        </p:nvSpPr>
        <p:spPr>
          <a:xfrm>
            <a:off x="4553712" y="2816352"/>
            <a:ext cx="3090672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投债差异化支持申请路径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跨条线疑难会诊机制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陪访/外部服务预算申请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业绩归属及激励评价建议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8115300" y="1933956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D7ED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Rounded Rectangle 98"/>
          <p:cNvSpPr/>
          <p:nvPr/>
        </p:nvSpPr>
        <p:spPr>
          <a:xfrm>
            <a:off x="8092440" y="1901952"/>
            <a:ext cx="3511296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8238744" y="2057400"/>
            <a:ext cx="393192" cy="393192"/>
          </a:xfrm>
          <a:prstGeom prst="ellipse">
            <a:avLst/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8247888" y="2135124"/>
            <a:ext cx="374904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03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8778240" y="2084832"/>
            <a:ext cx="2670048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8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审定节奏与验收</a:t>
            </a:r>
          </a:p>
        </p:txBody>
      </p:sp>
      <p:cxnSp>
        <p:nvCxnSpPr>
          <p:cNvPr id="103" name="Connector 102"/>
          <p:cNvCxnSpPr/>
          <p:nvPr/>
        </p:nvCxnSpPr>
        <p:spPr>
          <a:xfrm>
            <a:off x="8293608" y="2651760"/>
            <a:ext cx="3108959" cy="0"/>
          </a:xfrm>
          <a:prstGeom prst="line">
            <a:avLst/>
          </a:prstGeom>
          <a:ln w="8890">
            <a:solidFill>
              <a:srgbClr val="B8DC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4" name="TextBox 103"/>
          <p:cNvSpPr txBox="1"/>
          <p:nvPr/>
        </p:nvSpPr>
        <p:spPr>
          <a:xfrm>
            <a:off x="8302752" y="2816352"/>
            <a:ext cx="3090672" cy="2542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90天行动安排及建议目标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周跟进、双周会诊、月督导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以真实交易、收费和客户反馈验收</a:t>
            </a:r>
          </a:p>
          <a:p>
            <a:pPr>
              <a:spcBef>
                <a:spcPts val="0"/>
              </a:spcBef>
              <a:spcAft>
                <a:spcPts val="400"/>
              </a:spcAft>
              <a:defRPr sz="15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形成样板后滚动扩围</a:t>
            </a:r>
          </a:p>
        </p:txBody>
      </p:sp>
      <p:sp>
        <p:nvSpPr>
          <p:cNvPr id="105" name="Rounded Rectangle 104"/>
          <p:cNvSpPr/>
          <p:nvPr/>
        </p:nvSpPr>
        <p:spPr>
          <a:xfrm>
            <a:off x="594360" y="5788152"/>
            <a:ext cx="11000232" cy="43891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Rounded Rectangle 105"/>
          <p:cNvSpPr/>
          <p:nvPr/>
        </p:nvSpPr>
        <p:spPr>
          <a:xfrm>
            <a:off x="594360" y="5788152"/>
            <a:ext cx="1005840" cy="438912"/>
          </a:xfrm>
          <a:prstGeom prst="roundRect">
            <a:avLst>
              <a:gd name="adj" fmla="val 5000"/>
            </a:avLst>
          </a:prstGeom>
          <a:solidFill>
            <a:srgbClr val="086EB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649224" y="5897880"/>
            <a:ext cx="877824" cy="2103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FFFFFF"/>
                </a:solidFill>
                <a:latin typeface="Noto Sans CJK SC"/>
              </a:defRPr>
            </a:pPr>
            <a:r>
              <a:rPr>
                <a:ea typeface="Noto Sans CJK SC"/>
              </a:rPr>
              <a:t>落地要点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773936" y="5893308"/>
            <a:ext cx="9555480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落脚点：让每条赛道有人研究、每个客户有人经营、每个项目有人推进。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38912" y="338328"/>
            <a:ext cx="50292" cy="228600"/>
          </a:xfrm>
          <a:prstGeom prst="rect">
            <a:avLst/>
          </a:prstGeom>
          <a:solidFill>
            <a:srgbClr val="19B7D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12648" y="301752"/>
            <a:ext cx="9144000" cy="219456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000" b="1">
                <a:solidFill>
                  <a:srgbClr val="168A88"/>
                </a:solidFill>
                <a:latin typeface="Noto Sans CJK SC"/>
              </a:defRPr>
            </a:pPr>
            <a:r>
              <a:rPr>
                <a:ea typeface="Noto Sans CJK SC"/>
              </a:rPr>
              <a:t>附注  /  供内部讨论及审定使用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713232"/>
            <a:ext cx="11018520" cy="6126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270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编制依据、数据口径与使用说明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353312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2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区分原材料事实、材料时点预测及本稿新增建议，便于复核与后续更新。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248446"/>
            <a:ext cx="161603" cy="7920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79289" y="6186011"/>
            <a:ext cx="121618" cy="14163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58579" y="6043157"/>
            <a:ext cx="172251" cy="2844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7868" y="6228938"/>
            <a:ext cx="189337" cy="98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7158" y="6246938"/>
            <a:ext cx="137736" cy="8070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448" y="6097132"/>
            <a:ext cx="115430" cy="2305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75737" y="6193688"/>
            <a:ext cx="94351" cy="13395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255027" y="6084662"/>
            <a:ext cx="162750" cy="2429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434317" y="6070699"/>
            <a:ext cx="115628" cy="25694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613606" y="6254277"/>
            <a:ext cx="180257" cy="733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792896" y="6036403"/>
            <a:ext cx="179860" cy="29124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72185" y="6207347"/>
            <a:ext cx="128775" cy="1203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151475" y="6150293"/>
            <a:ext cx="196473" cy="1773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330765" y="6225858"/>
            <a:ext cx="101616" cy="1017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2510054" y="6066144"/>
            <a:ext cx="184433" cy="26150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2689344" y="6026451"/>
            <a:ext cx="180004" cy="30119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868634" y="5949782"/>
            <a:ext cx="150279" cy="3778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047923" y="6082426"/>
            <a:ext cx="132975" cy="24522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227213" y="6061484"/>
            <a:ext cx="182448" cy="26616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3406503" y="6074452"/>
            <a:ext cx="185993" cy="25319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585792" y="6241889"/>
            <a:ext cx="168751" cy="857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765082" y="6165164"/>
            <a:ext cx="116446" cy="16248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944371" y="6182993"/>
            <a:ext cx="100195" cy="14465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123661" y="6168760"/>
            <a:ext cx="102522" cy="15888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302951" y="6141398"/>
            <a:ext cx="161192" cy="1862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482240" y="6190327"/>
            <a:ext cx="132059" cy="13732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61530" y="5961268"/>
            <a:ext cx="120734" cy="36637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840820" y="6064441"/>
            <a:ext cx="162547" cy="2632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0109" y="6026641"/>
            <a:ext cx="110218" cy="3010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5199399" y="6136792"/>
            <a:ext cx="109369" cy="19085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5378689" y="6054717"/>
            <a:ext cx="200018" cy="27293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5557978" y="6040663"/>
            <a:ext cx="152552" cy="28698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737268" y="6011876"/>
            <a:ext cx="183924" cy="31577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916557" y="6246212"/>
            <a:ext cx="116572" cy="81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095847" y="6171983"/>
            <a:ext cx="126054" cy="15566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6275137" y="5959298"/>
            <a:ext cx="114590" cy="36834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454426" y="6157197"/>
            <a:ext cx="187602" cy="17045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633716" y="6131696"/>
            <a:ext cx="163359" cy="19595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813006" y="6111781"/>
            <a:ext cx="191791" cy="21586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6992295" y="6178634"/>
            <a:ext cx="120504" cy="14901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71585" y="6173558"/>
            <a:ext cx="153037" cy="15408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7350875" y="5973500"/>
            <a:ext cx="155585" cy="35414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530164" y="6187236"/>
            <a:ext cx="135265" cy="140411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709454" y="6095818"/>
            <a:ext cx="200897" cy="23182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7888743" y="6241482"/>
            <a:ext cx="101415" cy="8616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068033" y="6058672"/>
            <a:ext cx="103471" cy="26897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247323" y="6123339"/>
            <a:ext cx="178353" cy="20430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8426612" y="6136110"/>
            <a:ext cx="98410" cy="191537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8605902" y="6089648"/>
            <a:ext cx="200742" cy="237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8785192" y="5985169"/>
            <a:ext cx="197994" cy="3424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964481" y="6029289"/>
            <a:ext cx="92699" cy="29835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9143771" y="6087173"/>
            <a:ext cx="166242" cy="240474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9323061" y="6054414"/>
            <a:ext cx="120718" cy="273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9502350" y="6119369"/>
            <a:ext cx="103680" cy="208278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9681640" y="5955862"/>
            <a:ext cx="141226" cy="37178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9860929" y="6173354"/>
            <a:ext cx="187545" cy="15429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10040219" y="6200047"/>
            <a:ext cx="146368" cy="12760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10219509" y="5982102"/>
            <a:ext cx="191580" cy="34554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10398798" y="6055048"/>
            <a:ext cx="124187" cy="2725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10578088" y="6208178"/>
            <a:ext cx="158261" cy="11946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757378" y="6086414"/>
            <a:ext cx="175108" cy="241233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Rectangle 67"/>
          <p:cNvSpPr/>
          <p:nvPr/>
        </p:nvSpPr>
        <p:spPr>
          <a:xfrm>
            <a:off x="10936667" y="6089257"/>
            <a:ext cx="176877" cy="23839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Rectangle 68"/>
          <p:cNvSpPr/>
          <p:nvPr/>
        </p:nvSpPr>
        <p:spPr>
          <a:xfrm>
            <a:off x="11115957" y="6154212"/>
            <a:ext cx="91502" cy="17343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Rectangle 69"/>
          <p:cNvSpPr/>
          <p:nvPr/>
        </p:nvSpPr>
        <p:spPr>
          <a:xfrm>
            <a:off x="11295247" y="5963648"/>
            <a:ext cx="93577" cy="363999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11474536" y="5994341"/>
            <a:ext cx="187860" cy="333306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11653826" y="6238077"/>
            <a:ext cx="125182" cy="89570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Rectangle 72"/>
          <p:cNvSpPr/>
          <p:nvPr/>
        </p:nvSpPr>
        <p:spPr>
          <a:xfrm>
            <a:off x="11833115" y="5958025"/>
            <a:ext cx="187782" cy="369622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Rectangle 73"/>
          <p:cNvSpPr/>
          <p:nvPr/>
        </p:nvSpPr>
        <p:spPr>
          <a:xfrm>
            <a:off x="12012405" y="6103232"/>
            <a:ext cx="100838" cy="224415"/>
          </a:xfrm>
          <a:prstGeom prst="rect">
            <a:avLst/>
          </a:prstGeom>
          <a:solidFill>
            <a:srgbClr val="C0E3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75" name="Connector 74"/>
          <p:cNvCxnSpPr/>
          <p:nvPr/>
        </p:nvCxnSpPr>
        <p:spPr>
          <a:xfrm>
            <a:off x="0" y="6327648"/>
            <a:ext cx="12191695" cy="0"/>
          </a:xfrm>
          <a:prstGeom prst="line">
            <a:avLst/>
          </a:prstGeom>
          <a:ln w="12700">
            <a:solidFill>
              <a:srgbClr val="9FD9E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nector 75"/>
          <p:cNvCxnSpPr/>
          <p:nvPr/>
        </p:nvCxnSpPr>
        <p:spPr>
          <a:xfrm flipV="1">
            <a:off x="0" y="6355080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nector 76"/>
          <p:cNvCxnSpPr/>
          <p:nvPr/>
        </p:nvCxnSpPr>
        <p:spPr>
          <a:xfrm flipV="1">
            <a:off x="0" y="6409944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 flipV="1">
            <a:off x="0" y="6464808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 flipV="1">
            <a:off x="0" y="6519672"/>
            <a:ext cx="12191695" cy="9144"/>
          </a:xfrm>
          <a:prstGeom prst="line">
            <a:avLst/>
          </a:prstGeom>
          <a:ln w="12700">
            <a:solidFill>
              <a:srgbClr val="D4EEF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0" name="Connector 79"/>
          <p:cNvCxnSpPr/>
          <p:nvPr/>
        </p:nvCxnSpPr>
        <p:spPr>
          <a:xfrm>
            <a:off x="484632" y="6428232"/>
            <a:ext cx="11219688" cy="0"/>
          </a:xfrm>
          <a:prstGeom prst="line">
            <a:avLst/>
          </a:prstGeom>
          <a:ln w="7620">
            <a:solidFill>
              <a:srgbClr val="A8D6E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1" name="TextBox 80"/>
          <p:cNvSpPr txBox="1"/>
          <p:nvPr/>
        </p:nvSpPr>
        <p:spPr>
          <a:xfrm>
            <a:off x="502920" y="6510528"/>
            <a:ext cx="365760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85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渤海银行太原分行  /  投资银行部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3703320" y="6510528"/>
            <a:ext cx="65836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800" b="0">
                <a:solidFill>
                  <a:srgbClr val="587287"/>
                </a:solidFill>
                <a:latin typeface="Noto Sans CJK SC"/>
              </a:defRPr>
            </a:pPr>
            <a:r>
              <a:rPr>
                <a:ea typeface="Noto Sans CJK SC"/>
              </a:rPr>
              <a:t>来源说明与口径注释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991088" y="6473952"/>
            <a:ext cx="658368" cy="246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Bef>
                <a:spcPts val="0"/>
              </a:spcBef>
              <a:spcAft>
                <a:spcPts val="400"/>
              </a:spcAft>
              <a:defRPr sz="1100" b="1">
                <a:solidFill>
                  <a:srgbClr val="086EBB"/>
                </a:solidFill>
                <a:latin typeface="Noto Sans CJK SC"/>
              </a:defRPr>
            </a:pPr>
            <a:r>
              <a:rPr>
                <a:ea typeface="Noto Sans CJK SC"/>
              </a:rPr>
              <a:t>34</a:t>
            </a:r>
          </a:p>
        </p:txBody>
      </p:sp>
      <p:sp>
        <p:nvSpPr>
          <p:cNvPr id="84" name="Rounded Rectangle 83"/>
          <p:cNvSpPr/>
          <p:nvPr/>
        </p:nvSpPr>
        <p:spPr>
          <a:xfrm>
            <a:off x="594360" y="1810512"/>
            <a:ext cx="10991088" cy="905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804672" y="1956816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附件一：战略及视觉参考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3794760" y="1938528"/>
            <a:ext cx="751636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依据用户补充截图：11市、93园区、25条核心产业链；保供为基本盘，增量来自绿色化、智能化和深加工；产业研究转化为客户名单、产品方案和拜访节奏。完整PDF因超过读取上限未解析，未引用截图外内容。</a:t>
            </a:r>
          </a:p>
        </p:txBody>
      </p:sp>
      <p:sp>
        <p:nvSpPr>
          <p:cNvPr id="87" name="Rounded Rectangle 86"/>
          <p:cNvSpPr/>
          <p:nvPr/>
        </p:nvSpPr>
        <p:spPr>
          <a:xfrm>
            <a:off x="594360" y="2834640"/>
            <a:ext cx="10991088" cy="905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04672" y="2980944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附件二：25条赛道图表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3794760" y="2962656"/>
            <a:ext cx="751636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赛道名称与八大类按用户图表保留，含“文旅康养”归入数字经济。逐赛道需求、产品、动作与风控为本稿分析建议，并非原表已有结论。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594360" y="3858768"/>
            <a:ext cx="10991088" cy="905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804672" y="4005072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附件三：部门现状及业务储备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794760" y="3986784"/>
            <a:ext cx="751636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采用材料9月末指标、问题分析、客户线索与中期方向。原材料中的预期年底数据、注册/排期及预计落地日期均未视为已完成；现状须由主办机构复核。</a:t>
            </a:r>
          </a:p>
        </p:txBody>
      </p:sp>
      <p:sp>
        <p:nvSpPr>
          <p:cNvPr id="93" name="Rounded Rectangle 92"/>
          <p:cNvSpPr/>
          <p:nvPr/>
        </p:nvSpPr>
        <p:spPr>
          <a:xfrm>
            <a:off x="594360" y="4882896"/>
            <a:ext cx="10991088" cy="905256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0160">
            <a:solidFill>
              <a:srgbClr val="B8DC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804672" y="5029200"/>
            <a:ext cx="2862072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350" b="1">
                <a:solidFill>
                  <a:srgbClr val="07346C"/>
                </a:solidFill>
                <a:latin typeface="Noto Sans CJK SC"/>
              </a:defRPr>
            </a:pPr>
            <a:r>
              <a:rPr>
                <a:ea typeface="Noto Sans CJK SC"/>
              </a:rPr>
              <a:t>数据与授权边界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794760" y="5010912"/>
            <a:ext cx="7516368" cy="6675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  <a:defRPr sz="1150" b="0">
                <a:solidFill>
                  <a:srgbClr val="23465E"/>
                </a:solidFill>
                <a:latin typeface="Noto Sans CJK SC"/>
              </a:defRPr>
            </a:pPr>
            <a:r>
              <a:rPr>
                <a:ea typeface="Noto Sans CJK SC"/>
              </a:rPr>
              <a:t>撮合25.63/38.39亿元存在口径差异；全年任务达成率与序时完成率分列理解。债承储备区间及合计待核。90天、作业时限、示范项目数及政策申请均为建议，审批后执行。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蓄势三晋 链启新局｜投行赋能25条产业链赛道支撑方案</dc:title>
  <dc:subject>产品支撑、政策赋能、协同推进与过程督导</dc:subject>
  <dc:creator>渤海银行太原分行 投资银行部（讨论稿）</dc:creator>
  <cp:keywords>25条产业链,投行,山西,债券承销,银团,撮合,对公理财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